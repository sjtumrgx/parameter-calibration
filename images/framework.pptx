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9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14" autoAdjust="0"/>
    <p:restoredTop sz="94660"/>
  </p:normalViewPr>
  <p:slideViewPr>
    <p:cSldViewPr snapToGrid="0">
      <p:cViewPr varScale="1">
        <p:scale>
          <a:sx n="108" d="100"/>
          <a:sy n="108" d="100"/>
        </p:scale>
        <p:origin x="104" y="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AF948E2-03DF-4994-97BD-F219581C254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9F66910A-0FEC-45ED-873A-4E571378005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2835B54-6FE1-474C-9D1D-12CBD71B61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F80922-AB92-4A09-A5D3-AAB7E84CEC0C}" type="datetimeFigureOut">
              <a:rPr lang="zh-CN" altLang="en-US" smtClean="0"/>
              <a:t>2025/11/7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14CE1D0-40F4-416A-A513-80E2B32270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F367FE6-8086-4C41-9027-B9CE81169D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DB287B-6405-4120-95C1-A49390B2ACC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650210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2D42256-D672-4F6C-ABAA-4A11CD13BF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AABC0F0-4C86-4265-8837-8D10A3CC86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8351B6C-B9A1-469C-935C-44F6049671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F80922-AB92-4A09-A5D3-AAB7E84CEC0C}" type="datetimeFigureOut">
              <a:rPr lang="zh-CN" altLang="en-US" smtClean="0"/>
              <a:t>2025/11/7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787BF33-8B65-42C2-B697-797DCCE6DE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0C77C9A-F42C-4CC7-B5DD-CC27006152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DB287B-6405-4120-95C1-A49390B2ACC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297810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07B1422-D6E8-467E-AB1B-D7425C4D3E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9AB0621-336A-4732-8EF8-3ABEB7D57F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9FE9329-6331-4247-BC9B-A48E3DA62F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F80922-AB92-4A09-A5D3-AAB7E84CEC0C}" type="datetimeFigureOut">
              <a:rPr lang="zh-CN" altLang="en-US" smtClean="0"/>
              <a:t>2025/11/7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A4F4451-DA86-4366-A216-2109695419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56E4649-A51B-434A-8A7E-4E7C579148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DB287B-6405-4120-95C1-A49390B2ACC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913766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FEC7C5D-7052-4F87-986A-200BEDFD94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3D5F495-C6F5-422A-B76A-532CC665F48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63AAF58D-D274-4EEE-86BF-9AC38A268ED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5E53B27-D821-4FA4-862F-31645BD3AA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F80922-AB92-4A09-A5D3-AAB7E84CEC0C}" type="datetimeFigureOut">
              <a:rPr lang="zh-CN" altLang="en-US" smtClean="0"/>
              <a:t>2025/11/7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0E1EEFB-D85B-4C1A-988A-F949045DA9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217CBFE-EED5-47A2-A848-7BBB76A098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DB287B-6405-4120-95C1-A49390B2ACC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663794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7E5612E-E955-4E6F-8496-270E4BBBEC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1AAB723-FB36-415C-B3AD-EAD5D7553A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46381DCF-A404-4208-A6B4-B6E257395FE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A453AC59-39AF-4B40-8C01-A538E71181A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41B53383-F9DA-452E-B33A-F771B50AF61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FB824B8D-538E-49E1-AC32-AC4EEC50DA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F80922-AB92-4A09-A5D3-AAB7E84CEC0C}" type="datetimeFigureOut">
              <a:rPr lang="zh-CN" altLang="en-US" smtClean="0"/>
              <a:t>2025/11/7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D2B52E7E-0E66-45E0-8AC1-89D81A5B74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73DFF59B-E06E-472D-A7AB-D36B08AF92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DB287B-6405-4120-95C1-A49390B2ACC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687481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9AFD207-AF43-4E36-B1E0-E452EC069A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BBF4375C-2119-4DBD-A0A7-7C45EF32BA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F80922-AB92-4A09-A5D3-AAB7E84CEC0C}" type="datetimeFigureOut">
              <a:rPr lang="zh-CN" altLang="en-US" smtClean="0"/>
              <a:t>2025/11/7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711F421E-FC84-4B2F-A70A-55B5BFFD1E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A33B8C72-F1C2-4689-A6EA-5A43D305A2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DB287B-6405-4120-95C1-A49390B2ACC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029078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CBCCA24C-3B86-43F8-8B1C-4EDE80D368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F80922-AB92-4A09-A5D3-AAB7E84CEC0C}" type="datetimeFigureOut">
              <a:rPr lang="zh-CN" altLang="en-US" smtClean="0"/>
              <a:t>2025/11/7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45F72283-CABA-4943-9D6D-E6BC27C592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BF5CCCD-7950-42A3-838F-8D16799A04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DB287B-6405-4120-95C1-A49390B2ACC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967477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15ACBA-52A8-4AA4-92F7-9C58138F41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5649464-F990-408E-A13B-EAF201164F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F7929F91-7767-4D95-93E1-B9B860D8F6F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99EFF87-C885-4C7C-8BDA-5D292E29CB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F80922-AB92-4A09-A5D3-AAB7E84CEC0C}" type="datetimeFigureOut">
              <a:rPr lang="zh-CN" altLang="en-US" smtClean="0"/>
              <a:t>2025/11/7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94DF492-BEBA-4D47-B14E-D844ACEC87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5BA6E4A-8FC2-43CB-BC32-2893CD65DF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DB287B-6405-4120-95C1-A49390B2ACC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945630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56313AC-DC9F-4957-896F-46173C7FBD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0C21DCE-86D7-4018-88A2-AA3B8FD23F4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70424D5A-0029-449A-9C7D-87E1F1671B9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FBBDB6B-5D89-43F9-8A50-DDB7620A02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F80922-AB92-4A09-A5D3-AAB7E84CEC0C}" type="datetimeFigureOut">
              <a:rPr lang="zh-CN" altLang="en-US" smtClean="0"/>
              <a:t>2025/11/7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52F8A73-7F38-49F5-8170-2BB21138C2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ECA5B92-AAF7-4B9B-A39B-4EE3E549B7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DB287B-6405-4120-95C1-A49390B2ACC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626345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4738AF5-BE84-46A1-8339-0FD47E9C98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E6913A2E-BFFD-459A-9CBA-E37E7FE167A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A86458B-2DD8-4DCA-B7AE-2B6508C56B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F80922-AB92-4A09-A5D3-AAB7E84CEC0C}" type="datetimeFigureOut">
              <a:rPr lang="zh-CN" altLang="en-US" smtClean="0"/>
              <a:t>2025/11/7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1849CB6-A44C-4817-8CB9-5FF194118F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32A6282-3E58-4282-B47A-5B8482135D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DB287B-6405-4120-95C1-A49390B2ACC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300783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616CFBE4-08CE-40E2-99FF-92B2D8969C0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093057BB-686C-4193-AC3B-13B05EEDD84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65D5BE9-87EE-4818-97FA-FAF7A8D697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F80922-AB92-4A09-A5D3-AAB7E84CEC0C}" type="datetimeFigureOut">
              <a:rPr lang="zh-CN" altLang="en-US" smtClean="0"/>
              <a:t>2025/11/7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8FB3111-2F11-48C8-910A-B218F53523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114F208-D9B7-4F5E-9DB6-2A49C75BE6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DB287B-6405-4120-95C1-A49390B2ACC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000065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1085FD93-C641-4897-A4E4-E2FF071ACA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37F8102-ECD5-4702-BCAB-B15A02C090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92A678C-C778-44B6-920E-662944CA739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CF80922-AB92-4A09-A5D3-AAB7E84CEC0C}" type="datetimeFigureOut">
              <a:rPr lang="zh-CN" altLang="en-US" smtClean="0"/>
              <a:t>2025/11/7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D5BE92D-2E52-4F91-A007-055D33589C4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E6BCE30-E31E-4880-B25C-97F60CA4BCB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4DB287B-6405-4120-95C1-A49390B2ACC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109322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.xml"/><Relationship Id="rId13" Type="http://schemas.openxmlformats.org/officeDocument/2006/relationships/image" Target="../media/image5.png"/><Relationship Id="rId3" Type="http://schemas.openxmlformats.org/officeDocument/2006/relationships/tags" Target="../tags/tag3.xml"/><Relationship Id="rId7" Type="http://schemas.openxmlformats.org/officeDocument/2006/relationships/tags" Target="../tags/tag7.xml"/><Relationship Id="rId12" Type="http://schemas.openxmlformats.org/officeDocument/2006/relationships/image" Target="../media/image4.png"/><Relationship Id="rId17" Type="http://schemas.openxmlformats.org/officeDocument/2006/relationships/image" Target="../media/image9.png"/><Relationship Id="rId2" Type="http://schemas.openxmlformats.org/officeDocument/2006/relationships/tags" Target="../tags/tag2.xml"/><Relationship Id="rId16" Type="http://schemas.openxmlformats.org/officeDocument/2006/relationships/image" Target="../media/image8.png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11" Type="http://schemas.openxmlformats.org/officeDocument/2006/relationships/image" Target="../media/image3.png"/><Relationship Id="rId5" Type="http://schemas.openxmlformats.org/officeDocument/2006/relationships/tags" Target="../tags/tag5.xml"/><Relationship Id="rId15" Type="http://schemas.openxmlformats.org/officeDocument/2006/relationships/image" Target="../media/image7.png"/><Relationship Id="rId10" Type="http://schemas.openxmlformats.org/officeDocument/2006/relationships/image" Target="../media/image2.png"/><Relationship Id="rId4" Type="http://schemas.openxmlformats.org/officeDocument/2006/relationships/tags" Target="../tags/tag4.xml"/><Relationship Id="rId9" Type="http://schemas.openxmlformats.org/officeDocument/2006/relationships/image" Target="../media/image1.png"/><Relationship Id="rId1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>
            <a:extLst>
              <a:ext uri="{FF2B5EF4-FFF2-40B4-BE49-F238E27FC236}">
                <a16:creationId xmlns:a16="http://schemas.microsoft.com/office/drawing/2014/main" id="{36C1BA0E-4217-4022-AF2E-ED91DFB236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9826504" y="1288751"/>
            <a:ext cx="2003418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F02F9201-9C8C-4EC8-A829-2B6388FF39A3}"/>
              </a:ext>
            </a:extLst>
          </p:cNvPr>
          <p:cNvGrpSpPr/>
          <p:nvPr/>
        </p:nvGrpSpPr>
        <p:grpSpPr>
          <a:xfrm>
            <a:off x="582072" y="2484381"/>
            <a:ext cx="11027855" cy="3942455"/>
            <a:chOff x="582072" y="2789182"/>
            <a:chExt cx="11027855" cy="3942455"/>
          </a:xfrm>
        </p:grpSpPr>
        <p:sp>
          <p:nvSpPr>
            <p:cNvPr id="4" name="文本框 3">
              <a:extLst>
                <a:ext uri="{FF2B5EF4-FFF2-40B4-BE49-F238E27FC236}">
                  <a16:creationId xmlns:a16="http://schemas.microsoft.com/office/drawing/2014/main" id="{CBE30065-B008-44AC-AE3D-4BD5FE04C07C}"/>
                </a:ext>
              </a:extLst>
            </p:cNvPr>
            <p:cNvSpPr txBox="1"/>
            <p:nvPr/>
          </p:nvSpPr>
          <p:spPr>
            <a:xfrm>
              <a:off x="3300885" y="3281544"/>
              <a:ext cx="609600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53" name="任意多边形: 形状 52">
              <a:extLst>
                <a:ext uri="{FF2B5EF4-FFF2-40B4-BE49-F238E27FC236}">
                  <a16:creationId xmlns:a16="http://schemas.microsoft.com/office/drawing/2014/main" id="{418F28B2-8D72-4BEB-BCDF-892FF9AB55BC}"/>
                </a:ext>
              </a:extLst>
            </p:cNvPr>
            <p:cNvSpPr/>
            <p:nvPr/>
          </p:nvSpPr>
          <p:spPr>
            <a:xfrm>
              <a:off x="694743" y="2811095"/>
              <a:ext cx="5607434" cy="3756649"/>
            </a:xfrm>
            <a:custGeom>
              <a:avLst/>
              <a:gdLst>
                <a:gd name="connsiteX0" fmla="*/ 0 w 5607434"/>
                <a:gd name="connsiteY0" fmla="*/ 0 h 3756649"/>
                <a:gd name="connsiteX1" fmla="*/ 5607434 w 5607434"/>
                <a:gd name="connsiteY1" fmla="*/ 0 h 3756649"/>
                <a:gd name="connsiteX2" fmla="*/ 5607434 w 5607434"/>
                <a:gd name="connsiteY2" fmla="*/ 2135644 h 3756649"/>
                <a:gd name="connsiteX3" fmla="*/ 5607434 w 5607434"/>
                <a:gd name="connsiteY3" fmla="*/ 2135645 h 3756649"/>
                <a:gd name="connsiteX4" fmla="*/ 5607434 w 5607434"/>
                <a:gd name="connsiteY4" fmla="*/ 3756649 h 3756649"/>
                <a:gd name="connsiteX5" fmla="*/ 2067551 w 5607434"/>
                <a:gd name="connsiteY5" fmla="*/ 3756649 h 3756649"/>
                <a:gd name="connsiteX6" fmla="*/ 2067551 w 5607434"/>
                <a:gd name="connsiteY6" fmla="*/ 2135645 h 3756649"/>
                <a:gd name="connsiteX7" fmla="*/ 0 w 5607434"/>
                <a:gd name="connsiteY7" fmla="*/ 2135645 h 3756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607434" h="3756649">
                  <a:moveTo>
                    <a:pt x="0" y="0"/>
                  </a:moveTo>
                  <a:lnTo>
                    <a:pt x="5607434" y="0"/>
                  </a:lnTo>
                  <a:lnTo>
                    <a:pt x="5607434" y="2135644"/>
                  </a:lnTo>
                  <a:lnTo>
                    <a:pt x="5607434" y="2135645"/>
                  </a:lnTo>
                  <a:lnTo>
                    <a:pt x="5607434" y="3756649"/>
                  </a:lnTo>
                  <a:lnTo>
                    <a:pt x="2067551" y="3756649"/>
                  </a:lnTo>
                  <a:lnTo>
                    <a:pt x="2067551" y="2135645"/>
                  </a:lnTo>
                  <a:lnTo>
                    <a:pt x="0" y="2135645"/>
                  </a:lnTo>
                  <a:close/>
                </a:path>
              </a:pathLst>
            </a:custGeom>
            <a:solidFill>
              <a:srgbClr val="88CAD8">
                <a:alpha val="80000"/>
              </a:srgb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grpSp>
          <p:nvGrpSpPr>
            <p:cNvPr id="54" name="组合 53">
              <a:extLst>
                <a:ext uri="{FF2B5EF4-FFF2-40B4-BE49-F238E27FC236}">
                  <a16:creationId xmlns:a16="http://schemas.microsoft.com/office/drawing/2014/main" id="{AD8C9008-3C9E-4D77-BC74-FCB56E926F44}"/>
                </a:ext>
              </a:extLst>
            </p:cNvPr>
            <p:cNvGrpSpPr/>
            <p:nvPr/>
          </p:nvGrpSpPr>
          <p:grpSpPr>
            <a:xfrm>
              <a:off x="862365" y="3441503"/>
              <a:ext cx="1944564" cy="1372612"/>
              <a:chOff x="8143875" y="2447925"/>
              <a:chExt cx="1944564" cy="1372612"/>
            </a:xfrm>
          </p:grpSpPr>
          <p:sp>
            <p:nvSpPr>
              <p:cNvPr id="71" name="立方体 70">
                <a:extLst>
                  <a:ext uri="{FF2B5EF4-FFF2-40B4-BE49-F238E27FC236}">
                    <a16:creationId xmlns:a16="http://schemas.microsoft.com/office/drawing/2014/main" id="{5C418842-9C82-4FA8-8B12-33AF1DE6CEA4}"/>
                  </a:ext>
                </a:extLst>
              </p:cNvPr>
              <p:cNvSpPr/>
              <p:nvPr/>
            </p:nvSpPr>
            <p:spPr>
              <a:xfrm>
                <a:off x="8143875" y="2447925"/>
                <a:ext cx="647700" cy="1372612"/>
              </a:xfrm>
              <a:prstGeom prst="cube">
                <a:avLst>
                  <a:gd name="adj" fmla="val 70822"/>
                </a:avLst>
              </a:prstGeom>
              <a:solidFill>
                <a:srgbClr val="B8B8B8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72" name="立方体 71">
                <a:extLst>
                  <a:ext uri="{FF2B5EF4-FFF2-40B4-BE49-F238E27FC236}">
                    <a16:creationId xmlns:a16="http://schemas.microsoft.com/office/drawing/2014/main" id="{32C4D231-98F8-402B-BDE6-9DFD71B397F8}"/>
                  </a:ext>
                </a:extLst>
              </p:cNvPr>
              <p:cNvSpPr/>
              <p:nvPr/>
            </p:nvSpPr>
            <p:spPr>
              <a:xfrm>
                <a:off x="8380714" y="2447925"/>
                <a:ext cx="647700" cy="1372612"/>
              </a:xfrm>
              <a:prstGeom prst="cube">
                <a:avLst>
                  <a:gd name="adj" fmla="val 70822"/>
                </a:avLst>
              </a:prstGeom>
              <a:solidFill>
                <a:srgbClr val="B8B8B8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73" name="立方体 72">
                <a:extLst>
                  <a:ext uri="{FF2B5EF4-FFF2-40B4-BE49-F238E27FC236}">
                    <a16:creationId xmlns:a16="http://schemas.microsoft.com/office/drawing/2014/main" id="{C3ED7D0E-8901-48C6-A06B-EA537152A387}"/>
                  </a:ext>
                </a:extLst>
              </p:cNvPr>
              <p:cNvSpPr/>
              <p:nvPr/>
            </p:nvSpPr>
            <p:spPr>
              <a:xfrm>
                <a:off x="8617553" y="2447925"/>
                <a:ext cx="647700" cy="1372612"/>
              </a:xfrm>
              <a:prstGeom prst="cube">
                <a:avLst>
                  <a:gd name="adj" fmla="val 70822"/>
                </a:avLst>
              </a:prstGeom>
              <a:solidFill>
                <a:srgbClr val="B8B8B8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74" name="立方体 73">
                <a:extLst>
                  <a:ext uri="{FF2B5EF4-FFF2-40B4-BE49-F238E27FC236}">
                    <a16:creationId xmlns:a16="http://schemas.microsoft.com/office/drawing/2014/main" id="{DDDD269F-9AA3-490C-A21E-EF19CE3B3F92}"/>
                  </a:ext>
                </a:extLst>
              </p:cNvPr>
              <p:cNvSpPr/>
              <p:nvPr/>
            </p:nvSpPr>
            <p:spPr>
              <a:xfrm>
                <a:off x="8854392" y="2447925"/>
                <a:ext cx="647700" cy="1372612"/>
              </a:xfrm>
              <a:prstGeom prst="cube">
                <a:avLst>
                  <a:gd name="adj" fmla="val 70822"/>
                </a:avLst>
              </a:prstGeom>
              <a:solidFill>
                <a:srgbClr val="B8B8B8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75" name="立方体 74">
                <a:extLst>
                  <a:ext uri="{FF2B5EF4-FFF2-40B4-BE49-F238E27FC236}">
                    <a16:creationId xmlns:a16="http://schemas.microsoft.com/office/drawing/2014/main" id="{A315FBC9-3E5D-4FF9-B4A5-5EC554C8572E}"/>
                  </a:ext>
                </a:extLst>
              </p:cNvPr>
              <p:cNvSpPr/>
              <p:nvPr/>
            </p:nvSpPr>
            <p:spPr>
              <a:xfrm>
                <a:off x="9091231" y="2447925"/>
                <a:ext cx="647700" cy="1372612"/>
              </a:xfrm>
              <a:prstGeom prst="cube">
                <a:avLst>
                  <a:gd name="adj" fmla="val 70822"/>
                </a:avLst>
              </a:prstGeom>
              <a:solidFill>
                <a:srgbClr val="B8B8B8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76" name="立方体 75">
                <a:extLst>
                  <a:ext uri="{FF2B5EF4-FFF2-40B4-BE49-F238E27FC236}">
                    <a16:creationId xmlns:a16="http://schemas.microsoft.com/office/drawing/2014/main" id="{4159A611-AD9C-405A-BFC1-02FE59E8C5EE}"/>
                  </a:ext>
                </a:extLst>
              </p:cNvPr>
              <p:cNvSpPr/>
              <p:nvPr/>
            </p:nvSpPr>
            <p:spPr>
              <a:xfrm>
                <a:off x="9328069" y="2447925"/>
                <a:ext cx="647700" cy="1372612"/>
              </a:xfrm>
              <a:prstGeom prst="cube">
                <a:avLst>
                  <a:gd name="adj" fmla="val 70822"/>
                </a:avLst>
              </a:prstGeom>
              <a:solidFill>
                <a:srgbClr val="B8B8B8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grpSp>
            <p:nvGrpSpPr>
              <p:cNvPr id="77" name="组合 76">
                <a:extLst>
                  <a:ext uri="{FF2B5EF4-FFF2-40B4-BE49-F238E27FC236}">
                    <a16:creationId xmlns:a16="http://schemas.microsoft.com/office/drawing/2014/main" id="{6FED61FB-F9AA-457F-B2C8-7860055C5C3F}"/>
                  </a:ext>
                </a:extLst>
              </p:cNvPr>
              <p:cNvGrpSpPr/>
              <p:nvPr/>
            </p:nvGrpSpPr>
            <p:grpSpPr>
              <a:xfrm>
                <a:off x="8458857" y="2479246"/>
                <a:ext cx="1280074" cy="292894"/>
                <a:chOff x="8408856" y="2529247"/>
                <a:chExt cx="1231459" cy="292894"/>
              </a:xfrm>
            </p:grpSpPr>
            <p:sp>
              <p:nvSpPr>
                <p:cNvPr id="79" name="立方体 78">
                  <a:extLst>
                    <a:ext uri="{FF2B5EF4-FFF2-40B4-BE49-F238E27FC236}">
                      <a16:creationId xmlns:a16="http://schemas.microsoft.com/office/drawing/2014/main" id="{88782CDE-C7B2-412D-8167-411181F86EF1}"/>
                    </a:ext>
                  </a:extLst>
                </p:cNvPr>
                <p:cNvSpPr/>
                <p:nvPr/>
              </p:nvSpPr>
              <p:spPr>
                <a:xfrm>
                  <a:off x="8408856" y="2529247"/>
                  <a:ext cx="1231459" cy="292894"/>
                </a:xfrm>
                <a:prstGeom prst="cube">
                  <a:avLst>
                    <a:gd name="adj" fmla="val 58333"/>
                  </a:avLst>
                </a:prstGeom>
                <a:solidFill>
                  <a:srgbClr val="FAF4D2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等线" panose="020F0502020204030204"/>
                    <a:ea typeface="等线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80" name="矩形 79">
                  <a:extLst>
                    <a:ext uri="{FF2B5EF4-FFF2-40B4-BE49-F238E27FC236}">
                      <a16:creationId xmlns:a16="http://schemas.microsoft.com/office/drawing/2014/main" id="{71CB5665-96AA-4DFD-958F-92A5CD735A1D}"/>
                    </a:ext>
                  </a:extLst>
                </p:cNvPr>
                <p:cNvSpPr/>
                <p:nvPr/>
              </p:nvSpPr>
              <p:spPr>
                <a:xfrm>
                  <a:off x="8505975" y="2721285"/>
                  <a:ext cx="80169" cy="80169"/>
                </a:xfrm>
                <a:prstGeom prst="rect">
                  <a:avLst/>
                </a:prstGeom>
                <a:solidFill>
                  <a:schemeClr val="accent4">
                    <a:lumMod val="60000"/>
                    <a:lumOff val="4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等线" panose="020F0502020204030204"/>
                    <a:ea typeface="等线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81" name="矩形 80">
                  <a:extLst>
                    <a:ext uri="{FF2B5EF4-FFF2-40B4-BE49-F238E27FC236}">
                      <a16:creationId xmlns:a16="http://schemas.microsoft.com/office/drawing/2014/main" id="{34FA0A9E-C01B-48FB-AD0B-A1375CCB72E4}"/>
                    </a:ext>
                  </a:extLst>
                </p:cNvPr>
                <p:cNvSpPr/>
                <p:nvPr/>
              </p:nvSpPr>
              <p:spPr>
                <a:xfrm>
                  <a:off x="8659236" y="2721285"/>
                  <a:ext cx="80169" cy="80169"/>
                </a:xfrm>
                <a:prstGeom prst="rect">
                  <a:avLst/>
                </a:prstGeom>
                <a:solidFill>
                  <a:schemeClr val="accent4">
                    <a:lumMod val="60000"/>
                    <a:lumOff val="4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等线" panose="020F0502020204030204"/>
                    <a:ea typeface="等线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82" name="矩形 81">
                  <a:extLst>
                    <a:ext uri="{FF2B5EF4-FFF2-40B4-BE49-F238E27FC236}">
                      <a16:creationId xmlns:a16="http://schemas.microsoft.com/office/drawing/2014/main" id="{2617FF3C-6645-4576-9F9C-F6F0E8CD32EB}"/>
                    </a:ext>
                  </a:extLst>
                </p:cNvPr>
                <p:cNvSpPr/>
                <p:nvPr/>
              </p:nvSpPr>
              <p:spPr>
                <a:xfrm>
                  <a:off x="8812497" y="2721285"/>
                  <a:ext cx="80169" cy="80169"/>
                </a:xfrm>
                <a:prstGeom prst="rect">
                  <a:avLst/>
                </a:prstGeom>
                <a:solidFill>
                  <a:schemeClr val="accent4">
                    <a:lumMod val="60000"/>
                    <a:lumOff val="4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等线" panose="020F0502020204030204"/>
                    <a:ea typeface="等线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83" name="矩形 82">
                  <a:extLst>
                    <a:ext uri="{FF2B5EF4-FFF2-40B4-BE49-F238E27FC236}">
                      <a16:creationId xmlns:a16="http://schemas.microsoft.com/office/drawing/2014/main" id="{84F0854C-5011-4D54-9164-DB4C2F6E8660}"/>
                    </a:ext>
                  </a:extLst>
                </p:cNvPr>
                <p:cNvSpPr/>
                <p:nvPr/>
              </p:nvSpPr>
              <p:spPr>
                <a:xfrm>
                  <a:off x="8965758" y="2721285"/>
                  <a:ext cx="80169" cy="80169"/>
                </a:xfrm>
                <a:prstGeom prst="rect">
                  <a:avLst/>
                </a:prstGeom>
                <a:solidFill>
                  <a:schemeClr val="accent4">
                    <a:lumMod val="60000"/>
                    <a:lumOff val="4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等线" panose="020F0502020204030204"/>
                    <a:ea typeface="等线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84" name="矩形 83">
                  <a:extLst>
                    <a:ext uri="{FF2B5EF4-FFF2-40B4-BE49-F238E27FC236}">
                      <a16:creationId xmlns:a16="http://schemas.microsoft.com/office/drawing/2014/main" id="{3A6F1368-99A7-4945-847A-CA90FB70B0E4}"/>
                    </a:ext>
                  </a:extLst>
                </p:cNvPr>
                <p:cNvSpPr/>
                <p:nvPr/>
              </p:nvSpPr>
              <p:spPr>
                <a:xfrm>
                  <a:off x="9119019" y="2721285"/>
                  <a:ext cx="80169" cy="80169"/>
                </a:xfrm>
                <a:prstGeom prst="rect">
                  <a:avLst/>
                </a:prstGeom>
                <a:solidFill>
                  <a:schemeClr val="accent4">
                    <a:lumMod val="60000"/>
                    <a:lumOff val="4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等线" panose="020F0502020204030204"/>
                    <a:ea typeface="等线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85" name="矩形 84">
                  <a:extLst>
                    <a:ext uri="{FF2B5EF4-FFF2-40B4-BE49-F238E27FC236}">
                      <a16:creationId xmlns:a16="http://schemas.microsoft.com/office/drawing/2014/main" id="{CE293444-12CB-45C7-85C7-FD9974B7FE2C}"/>
                    </a:ext>
                  </a:extLst>
                </p:cNvPr>
                <p:cNvSpPr/>
                <p:nvPr/>
              </p:nvSpPr>
              <p:spPr>
                <a:xfrm>
                  <a:off x="9272281" y="2721285"/>
                  <a:ext cx="80169" cy="80169"/>
                </a:xfrm>
                <a:prstGeom prst="rect">
                  <a:avLst/>
                </a:prstGeom>
                <a:solidFill>
                  <a:schemeClr val="accent4">
                    <a:lumMod val="60000"/>
                    <a:lumOff val="4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等线" panose="020F0502020204030204"/>
                    <a:ea typeface="等线" panose="02010600030101010101" pitchFamily="2" charset="-122"/>
                    <a:cs typeface="+mn-cs"/>
                  </a:endParaRPr>
                </a:p>
              </p:txBody>
            </p:sp>
          </p:grpSp>
          <p:sp>
            <p:nvSpPr>
              <p:cNvPr id="78" name="任意多边形: 形状 77">
                <a:extLst>
                  <a:ext uri="{FF2B5EF4-FFF2-40B4-BE49-F238E27FC236}">
                    <a16:creationId xmlns:a16="http://schemas.microsoft.com/office/drawing/2014/main" id="{D2189243-145B-4BC6-8FC8-63DC9D1A6A85}"/>
                  </a:ext>
                </a:extLst>
              </p:cNvPr>
              <p:cNvSpPr/>
              <p:nvPr/>
            </p:nvSpPr>
            <p:spPr>
              <a:xfrm>
                <a:off x="9645650" y="2641600"/>
                <a:ext cx="442789" cy="723454"/>
              </a:xfrm>
              <a:custGeom>
                <a:avLst/>
                <a:gdLst>
                  <a:gd name="connsiteX0" fmla="*/ 0 w 527050"/>
                  <a:gd name="connsiteY0" fmla="*/ 0 h 501650"/>
                  <a:gd name="connsiteX1" fmla="*/ 425450 w 527050"/>
                  <a:gd name="connsiteY1" fmla="*/ 165100 h 501650"/>
                  <a:gd name="connsiteX2" fmla="*/ 527050 w 527050"/>
                  <a:gd name="connsiteY2" fmla="*/ 501650 h 5016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527050" h="501650">
                    <a:moveTo>
                      <a:pt x="0" y="0"/>
                    </a:moveTo>
                    <a:cubicBezTo>
                      <a:pt x="168804" y="40746"/>
                      <a:pt x="337608" y="81492"/>
                      <a:pt x="425450" y="165100"/>
                    </a:cubicBezTo>
                    <a:cubicBezTo>
                      <a:pt x="513292" y="248708"/>
                      <a:pt x="498475" y="421217"/>
                      <a:pt x="527050" y="501650"/>
                    </a:cubicBezTo>
                  </a:path>
                </a:pathLst>
              </a:custGeom>
              <a:noFill/>
              <a:ln w="5715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</p:grpSp>
        <p:pic>
          <p:nvPicPr>
            <p:cNvPr id="55" name="图片 54">
              <a:extLst>
                <a:ext uri="{FF2B5EF4-FFF2-40B4-BE49-F238E27FC236}">
                  <a16:creationId xmlns:a16="http://schemas.microsoft.com/office/drawing/2014/main" id="{C4F715A0-EF8F-4D78-AEC2-5AFC755ECACC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582072" y="5007709"/>
              <a:ext cx="2118537" cy="1723928"/>
            </a:xfrm>
            <a:prstGeom prst="rect">
              <a:avLst/>
            </a:prstGeom>
          </p:spPr>
        </p:pic>
        <p:pic>
          <p:nvPicPr>
            <p:cNvPr id="56" name="图片 55">
              <a:extLst>
                <a:ext uri="{FF2B5EF4-FFF2-40B4-BE49-F238E27FC236}">
                  <a16:creationId xmlns:a16="http://schemas.microsoft.com/office/drawing/2014/main" id="{F3914517-B459-4CA8-BB09-A11A9589E11F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3419574" y="3358372"/>
              <a:ext cx="2768748" cy="1538875"/>
            </a:xfrm>
            <a:prstGeom prst="rect">
              <a:avLst/>
            </a:prstGeom>
          </p:spPr>
        </p:pic>
        <p:sp>
          <p:nvSpPr>
            <p:cNvPr id="57" name="矩形 56">
              <a:extLst>
                <a:ext uri="{FF2B5EF4-FFF2-40B4-BE49-F238E27FC236}">
                  <a16:creationId xmlns:a16="http://schemas.microsoft.com/office/drawing/2014/main" id="{8828112E-E95C-44FC-9EBD-FA02488D8545}"/>
                </a:ext>
              </a:extLst>
            </p:cNvPr>
            <p:cNvSpPr/>
            <p:nvPr/>
          </p:nvSpPr>
          <p:spPr>
            <a:xfrm>
              <a:off x="2838384" y="5171822"/>
              <a:ext cx="3349938" cy="700014"/>
            </a:xfrm>
            <a:prstGeom prst="rect">
              <a:avLst/>
            </a:prstGeom>
            <a:solidFill>
              <a:srgbClr val="FBCAC4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pic>
          <p:nvPicPr>
            <p:cNvPr id="58" name="图片 57" descr="\documentclass{article}&#10;\usepackage{amsmath,amssymb,amsfonts}&#10;\usepackage{xcolor}&#10;\pagestyle{empty}&#10;\begin{document}&#10;\begin{equation*}&#10;S_i = \frac{\mathrm{Var}_{\theta_i}\left[\mathbb{E}(Y \mid \theta_i)\right]}&#10;{ \mathrm{Var}(Y)}, S_{T_i} =&#10;\frac{\displaystyle \mathbb{E}_{\theta_{\sim i}}\bigl[\mathrm{Var}(Y \mid \theta_{\sim i})\bigr]}&#10;{\displaystyle \mathrm{Var}(Y)}&#10;\end{equation*}&#10;&#10;\end{document}" title="IguanaTex Picture Display">
              <a:extLst>
                <a:ext uri="{FF2B5EF4-FFF2-40B4-BE49-F238E27FC236}">
                  <a16:creationId xmlns:a16="http://schemas.microsoft.com/office/drawing/2014/main" id="{D12357B4-F0EA-4D62-83AE-3A80FCCD90E5}"/>
                </a:ext>
              </a:extLst>
            </p:cNvPr>
            <p:cNvPicPr>
              <a:picLocks noChangeAspect="1"/>
            </p:cNvPicPr>
            <p:nvPr>
              <p:custDataLst>
                <p:tags r:id="rId1"/>
              </p:custDataLst>
            </p:nvPr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900275" y="5234852"/>
              <a:ext cx="3226156" cy="390036"/>
            </a:xfrm>
            <a:prstGeom prst="rect">
              <a:avLst/>
            </a:prstGeom>
          </p:spPr>
        </p:pic>
        <p:sp>
          <p:nvSpPr>
            <p:cNvPr id="59" name="矩形 58">
              <a:extLst>
                <a:ext uri="{FF2B5EF4-FFF2-40B4-BE49-F238E27FC236}">
                  <a16:creationId xmlns:a16="http://schemas.microsoft.com/office/drawing/2014/main" id="{A8F8C37E-4EAA-4C4E-8DD2-F5F89C6F6A66}"/>
                </a:ext>
              </a:extLst>
            </p:cNvPr>
            <p:cNvSpPr/>
            <p:nvPr/>
          </p:nvSpPr>
          <p:spPr>
            <a:xfrm>
              <a:off x="2838384" y="6029886"/>
              <a:ext cx="3349938" cy="499669"/>
            </a:xfrm>
            <a:prstGeom prst="rect">
              <a:avLst/>
            </a:prstGeom>
            <a:solidFill>
              <a:srgbClr val="FBCAC4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60" name="文本框 59">
              <a:extLst>
                <a:ext uri="{FF2B5EF4-FFF2-40B4-BE49-F238E27FC236}">
                  <a16:creationId xmlns:a16="http://schemas.microsoft.com/office/drawing/2014/main" id="{4A824A13-A7B0-410E-B6D8-ED2E55EF0599}"/>
                </a:ext>
              </a:extLst>
            </p:cNvPr>
            <p:cNvSpPr txBox="1"/>
            <p:nvPr/>
          </p:nvSpPr>
          <p:spPr>
            <a:xfrm>
              <a:off x="3866619" y="5587208"/>
              <a:ext cx="1433406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Helvetica Neue" panose="02000503040000020004" pitchFamily="50" charset="-52"/>
                  <a:ea typeface="等线" panose="02010600030101010101" pitchFamily="2" charset="-122"/>
                  <a:cs typeface="+mn-cs"/>
                </a:rPr>
                <a:t>Sobol Indices</a:t>
              </a:r>
              <a:endPara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40000020004" pitchFamily="50" charset="-52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61" name="文本框 60">
              <a:extLst>
                <a:ext uri="{FF2B5EF4-FFF2-40B4-BE49-F238E27FC236}">
                  <a16:creationId xmlns:a16="http://schemas.microsoft.com/office/drawing/2014/main" id="{986AC75A-493E-4874-A789-C210977E5231}"/>
                </a:ext>
              </a:extLst>
            </p:cNvPr>
            <p:cNvSpPr txBox="1"/>
            <p:nvPr/>
          </p:nvSpPr>
          <p:spPr>
            <a:xfrm>
              <a:off x="2855913" y="4872039"/>
              <a:ext cx="3238387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Helvetica Neue" panose="02000503040000020004" pitchFamily="50" charset="-52"/>
                  <a:ea typeface="等线" panose="02010600030101010101" pitchFamily="2" charset="-122"/>
                  <a:cs typeface="+mn-cs"/>
                </a:rPr>
                <a:t>Cross-condition Sensitivity Analysis</a:t>
              </a:r>
              <a:endPara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40000020004" pitchFamily="50" charset="-52"/>
                <a:ea typeface="等线" panose="02010600030101010101" pitchFamily="2" charset="-122"/>
                <a:cs typeface="+mn-cs"/>
              </a:endParaRPr>
            </a:p>
          </p:txBody>
        </p:sp>
        <p:pic>
          <p:nvPicPr>
            <p:cNvPr id="62" name="图片 61" descr="\documentclass{article}&#10;\usepackage{amsmath,amssymb,amsfonts}&#10;\usepackage{xcolor}&#10;\pagestyle{empty}&#10;\begin{document}&#10;\begin{equation*}&#10;Y_{\text{multi}}  = w_1 Y_{C_1} + w_2 Y_{C_2} + \ldots + w_m Y_{C_m}&#10;\end{equation*}&#10;&#10;\end{document}" title="IguanaTex Picture Display">
              <a:extLst>
                <a:ext uri="{FF2B5EF4-FFF2-40B4-BE49-F238E27FC236}">
                  <a16:creationId xmlns:a16="http://schemas.microsoft.com/office/drawing/2014/main" id="{D8BA1396-CEE8-47F4-80A8-9868BB6CC065}"/>
                </a:ext>
              </a:extLst>
            </p:cNvPr>
            <p:cNvPicPr>
              <a:picLocks noChangeAspect="1"/>
            </p:cNvPicPr>
            <p:nvPr>
              <p:custDataLst>
                <p:tags r:id="rId2"/>
              </p:custDataLst>
            </p:nvPr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916115" y="6108153"/>
              <a:ext cx="3272207" cy="176353"/>
            </a:xfrm>
            <a:prstGeom prst="rect">
              <a:avLst/>
            </a:prstGeom>
          </p:spPr>
        </p:pic>
        <p:sp>
          <p:nvSpPr>
            <p:cNvPr id="63" name="文本框 62">
              <a:extLst>
                <a:ext uri="{FF2B5EF4-FFF2-40B4-BE49-F238E27FC236}">
                  <a16:creationId xmlns:a16="http://schemas.microsoft.com/office/drawing/2014/main" id="{10FD689A-C54D-4A8C-A824-0256E7826D29}"/>
                </a:ext>
              </a:extLst>
            </p:cNvPr>
            <p:cNvSpPr txBox="1"/>
            <p:nvPr/>
          </p:nvSpPr>
          <p:spPr>
            <a:xfrm>
              <a:off x="3389405" y="6238052"/>
              <a:ext cx="2387833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Helvetica Neue" panose="02000503040000020004" pitchFamily="50" charset="-52"/>
                  <a:ea typeface="等线" panose="02010600030101010101" pitchFamily="2" charset="-122"/>
                  <a:cs typeface="+mn-cs"/>
                </a:rPr>
                <a:t>Weighted Error Criterion</a:t>
              </a:r>
              <a:endPara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40000020004" pitchFamily="50" charset="-52"/>
                <a:ea typeface="等线" panose="02010600030101010101" pitchFamily="2" charset="-122"/>
                <a:cs typeface="+mn-cs"/>
              </a:endParaRPr>
            </a:p>
          </p:txBody>
        </p:sp>
        <p:cxnSp>
          <p:nvCxnSpPr>
            <p:cNvPr id="64" name="直接箭头连接符 63">
              <a:extLst>
                <a:ext uri="{FF2B5EF4-FFF2-40B4-BE49-F238E27FC236}">
                  <a16:creationId xmlns:a16="http://schemas.microsoft.com/office/drawing/2014/main" id="{7A57CAC4-9FF4-452C-9714-8E49DFB9541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513353" y="5879087"/>
              <a:ext cx="1" cy="144000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65" name="直接箭头连接符 64">
              <a:extLst>
                <a:ext uri="{FF2B5EF4-FFF2-40B4-BE49-F238E27FC236}">
                  <a16:creationId xmlns:a16="http://schemas.microsoft.com/office/drawing/2014/main" id="{BB2BE242-352D-4B2D-807F-CA6E280CF7B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554883" y="5757242"/>
              <a:ext cx="207411" cy="0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66" name="文本框 65">
              <a:extLst>
                <a:ext uri="{FF2B5EF4-FFF2-40B4-BE49-F238E27FC236}">
                  <a16:creationId xmlns:a16="http://schemas.microsoft.com/office/drawing/2014/main" id="{39F147C6-BCE7-4E27-8EB6-2CC1609A3ADA}"/>
                </a:ext>
              </a:extLst>
            </p:cNvPr>
            <p:cNvSpPr txBox="1"/>
            <p:nvPr/>
          </p:nvSpPr>
          <p:spPr>
            <a:xfrm>
              <a:off x="1520945" y="2832369"/>
              <a:ext cx="4278735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Helvetica Neue" panose="02000503040000020004" pitchFamily="50" charset="-52"/>
                  <a:ea typeface="等线" panose="02010600030101010101" pitchFamily="2" charset="-122"/>
                  <a:cs typeface="+mn-cs"/>
                </a:rPr>
                <a:t>DFN Battery Modeling with Real Discharge Data</a:t>
              </a:r>
              <a:endPara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40000020004" pitchFamily="50" charset="-52"/>
                <a:ea typeface="等线" panose="02010600030101010101" pitchFamily="2" charset="-122"/>
                <a:cs typeface="+mn-cs"/>
              </a:endParaRPr>
            </a:p>
          </p:txBody>
        </p:sp>
        <p:cxnSp>
          <p:nvCxnSpPr>
            <p:cNvPr id="67" name="直接箭头连接符 66">
              <a:extLst>
                <a:ext uri="{FF2B5EF4-FFF2-40B4-BE49-F238E27FC236}">
                  <a16:creationId xmlns:a16="http://schemas.microsoft.com/office/drawing/2014/main" id="{2AA60F68-61BA-4EF6-88C7-0C2B8008EFB1}"/>
                </a:ext>
              </a:extLst>
            </p:cNvPr>
            <p:cNvCxnSpPr>
              <a:cxnSpLocks/>
            </p:cNvCxnSpPr>
            <p:nvPr/>
          </p:nvCxnSpPr>
          <p:spPr>
            <a:xfrm>
              <a:off x="2895434" y="4095753"/>
              <a:ext cx="473290" cy="1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68" name="文本框 67">
              <a:extLst>
                <a:ext uri="{FF2B5EF4-FFF2-40B4-BE49-F238E27FC236}">
                  <a16:creationId xmlns:a16="http://schemas.microsoft.com/office/drawing/2014/main" id="{6EF22964-26D3-4025-B44B-A76A0E8FC7B4}"/>
                </a:ext>
              </a:extLst>
            </p:cNvPr>
            <p:cNvSpPr txBox="1"/>
            <p:nvPr/>
          </p:nvSpPr>
          <p:spPr>
            <a:xfrm>
              <a:off x="885474" y="3082964"/>
              <a:ext cx="2096087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Helvetica Neue" panose="02000503040000020004" pitchFamily="50" charset="-52"/>
                  <a:ea typeface="等线" panose="02010600030101010101" pitchFamily="2" charset="-122"/>
                  <a:cs typeface="+mn-cs"/>
                </a:rPr>
                <a:t>Large-format Battery</a:t>
              </a:r>
              <a:endPara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40000020004" pitchFamily="50" charset="-52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69" name="文本框 68">
              <a:extLst>
                <a:ext uri="{FF2B5EF4-FFF2-40B4-BE49-F238E27FC236}">
                  <a16:creationId xmlns:a16="http://schemas.microsoft.com/office/drawing/2014/main" id="{91FC0F4F-27CC-42EE-BDD9-475831EB0C94}"/>
                </a:ext>
              </a:extLst>
            </p:cNvPr>
            <p:cNvSpPr txBox="1"/>
            <p:nvPr/>
          </p:nvSpPr>
          <p:spPr>
            <a:xfrm rot="18809659">
              <a:off x="2220582" y="3949887"/>
              <a:ext cx="510076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Helvetica Neue" panose="02000503040000020004" pitchFamily="50" charset="-52"/>
                  <a:ea typeface="等线" panose="02010600030101010101" pitchFamily="2" charset="-122"/>
                  <a:cs typeface="+mn-cs"/>
                </a:rPr>
                <a:t>280 Ah</a:t>
              </a:r>
              <a:endParaRPr kumimoji="0" lang="zh-CN" alt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40000020004" pitchFamily="50" charset="-52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70" name="文本框 69">
              <a:extLst>
                <a:ext uri="{FF2B5EF4-FFF2-40B4-BE49-F238E27FC236}">
                  <a16:creationId xmlns:a16="http://schemas.microsoft.com/office/drawing/2014/main" id="{90C69CAB-69F4-4D88-BC9B-A5C985231E30}"/>
                </a:ext>
              </a:extLst>
            </p:cNvPr>
            <p:cNvSpPr txBox="1"/>
            <p:nvPr/>
          </p:nvSpPr>
          <p:spPr>
            <a:xfrm>
              <a:off x="4054384" y="3066594"/>
              <a:ext cx="1499128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Helvetica Neue" panose="02000503040000020004" pitchFamily="50" charset="-52"/>
                  <a:ea typeface="等线" panose="02010600030101010101" pitchFamily="2" charset="-122"/>
                  <a:cs typeface="+mn-cs"/>
                </a:rPr>
                <a:t>DFN Modeling</a:t>
              </a:r>
              <a:endPara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40000020004" pitchFamily="50" charset="-52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83E0DEE9-DE97-42B7-AC1E-E1DCAA2C1131}"/>
                </a:ext>
              </a:extLst>
            </p:cNvPr>
            <p:cNvSpPr/>
            <p:nvPr/>
          </p:nvSpPr>
          <p:spPr>
            <a:xfrm>
              <a:off x="6583857" y="2805022"/>
              <a:ext cx="5014709" cy="1110591"/>
            </a:xfrm>
            <a:prstGeom prst="rect">
              <a:avLst/>
            </a:prstGeom>
            <a:solidFill>
              <a:srgbClr val="E2B1B0">
                <a:alpha val="80000"/>
              </a:srgb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6686FD12-D8E1-4234-AB35-DF8B50DEB62D}"/>
                </a:ext>
              </a:extLst>
            </p:cNvPr>
            <p:cNvSpPr txBox="1"/>
            <p:nvPr/>
          </p:nvSpPr>
          <p:spPr>
            <a:xfrm>
              <a:off x="2810804" y="3756174"/>
              <a:ext cx="614271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Helvetica Neue" panose="02000503040000020004" pitchFamily="50" charset="-52"/>
                  <a:ea typeface="等线" panose="02010600030101010101" pitchFamily="2" charset="-122"/>
                  <a:cs typeface="+mn-cs"/>
                </a:rPr>
                <a:t>Data</a:t>
              </a:r>
              <a:endPara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40000020004" pitchFamily="50" charset="-52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3430C666-5109-45D0-9D4F-870B221253D5}"/>
                </a:ext>
              </a:extLst>
            </p:cNvPr>
            <p:cNvSpPr txBox="1"/>
            <p:nvPr/>
          </p:nvSpPr>
          <p:spPr>
            <a:xfrm>
              <a:off x="6728690" y="2826193"/>
              <a:ext cx="3276859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Helvetica Neue" panose="02000503040000020004" pitchFamily="50" charset="-52"/>
                  <a:ea typeface="等线" panose="02010600030101010101" pitchFamily="2" charset="-122"/>
                  <a:cs typeface="+mn-cs"/>
                </a:rPr>
                <a:t>Region-Aware Min-Max Formulation</a:t>
              </a:r>
              <a:endPara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40000020004" pitchFamily="50" charset="-52"/>
                <a:ea typeface="等线" panose="02010600030101010101" pitchFamily="2" charset="-122"/>
                <a:cs typeface="+mn-cs"/>
              </a:endParaRPr>
            </a:p>
          </p:txBody>
        </p:sp>
        <p:pic>
          <p:nvPicPr>
            <p:cNvPr id="10" name="图片 9" descr="\documentclass{article}&#10;\usepackage{amsmath,amssymb,amsfonts}&#10;\usepackage{xcolor}&#10;\pagestyle{empty}&#10;\begin{document}&#10;\begin{equation*}&#10;\begin{aligned}&#10;\boldsymbol{\theta}^* =&amp; \arg\min_{\boldsymbol{\theta} \in \Theta} \max_{i \in \{1,2,\ldots,m\}} J(\boldsymbol{\theta}, \mathcal{D}_{C_i}) \\&#10;\text{subject to\quad} &amp;J(\boldsymbol{\theta}, \mathcal{D}_{C_i}^{\text{high}}) \leq \epsilon_{\text{high}},\;&#10;J(\boldsymbol{\theta}, \mathcal{D}_{C_i}^{\text{low}}) \leq \epsilon_{\text{low}}&#10;\end{aligned}&#10;\end{equation*}&#10;&#10;\end{document}" title="IguanaTex Picture Display">
              <a:extLst>
                <a:ext uri="{FF2B5EF4-FFF2-40B4-BE49-F238E27FC236}">
                  <a16:creationId xmlns:a16="http://schemas.microsoft.com/office/drawing/2014/main" id="{77B45ABD-0669-4BB0-8BD0-9E4CD4FB0A10}"/>
                </a:ext>
              </a:extLst>
            </p:cNvPr>
            <p:cNvPicPr>
              <a:picLocks noChangeAspect="1"/>
            </p:cNvPicPr>
            <p:nvPr>
              <p:custDataLst>
                <p:tags r:id="rId3"/>
              </p:custDataLst>
            </p:nvPr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764501" y="3177994"/>
              <a:ext cx="3442932" cy="559717"/>
            </a:xfrm>
            <a:prstGeom prst="rect">
              <a:avLst/>
            </a:prstGeom>
          </p:spPr>
        </p:pic>
        <p:grpSp>
          <p:nvGrpSpPr>
            <p:cNvPr id="11" name="组合 10">
              <a:extLst>
                <a:ext uri="{FF2B5EF4-FFF2-40B4-BE49-F238E27FC236}">
                  <a16:creationId xmlns:a16="http://schemas.microsoft.com/office/drawing/2014/main" id="{46AF548D-8DB2-47F0-8776-9E972EE4A3B3}"/>
                </a:ext>
              </a:extLst>
            </p:cNvPr>
            <p:cNvGrpSpPr/>
            <p:nvPr/>
          </p:nvGrpSpPr>
          <p:grpSpPr>
            <a:xfrm>
              <a:off x="10078323" y="2789182"/>
              <a:ext cx="1489639" cy="1142959"/>
              <a:chOff x="7023944" y="3999647"/>
              <a:chExt cx="1489639" cy="1142959"/>
            </a:xfrm>
          </p:grpSpPr>
          <p:cxnSp>
            <p:nvCxnSpPr>
              <p:cNvPr id="36" name="直接箭头连接符 35">
                <a:extLst>
                  <a:ext uri="{FF2B5EF4-FFF2-40B4-BE49-F238E27FC236}">
                    <a16:creationId xmlns:a16="http://schemas.microsoft.com/office/drawing/2014/main" id="{779621FD-4C16-4048-BC45-764F17141380}"/>
                  </a:ext>
                </a:extLst>
              </p:cNvPr>
              <p:cNvCxnSpPr/>
              <p:nvPr/>
            </p:nvCxnSpPr>
            <p:spPr>
              <a:xfrm flipV="1">
                <a:off x="7248685" y="4067612"/>
                <a:ext cx="0" cy="912981"/>
              </a:xfrm>
              <a:prstGeom prst="straightConnector1">
                <a:avLst/>
              </a:prstGeom>
              <a:ln w="28575"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7" name="直接箭头连接符 36">
                <a:extLst>
                  <a:ext uri="{FF2B5EF4-FFF2-40B4-BE49-F238E27FC236}">
                    <a16:creationId xmlns:a16="http://schemas.microsoft.com/office/drawing/2014/main" id="{47024C85-B665-48FE-BC7D-6D161922455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240748" y="4970499"/>
                <a:ext cx="1272835" cy="0"/>
              </a:xfrm>
              <a:prstGeom prst="straightConnector1">
                <a:avLst/>
              </a:prstGeom>
              <a:ln w="28575"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38" name="任意多边形: 形状 37">
                <a:extLst>
                  <a:ext uri="{FF2B5EF4-FFF2-40B4-BE49-F238E27FC236}">
                    <a16:creationId xmlns:a16="http://schemas.microsoft.com/office/drawing/2014/main" id="{D22994E0-7FFE-472A-896C-1779ED988E36}"/>
                  </a:ext>
                </a:extLst>
              </p:cNvPr>
              <p:cNvSpPr/>
              <p:nvPr/>
            </p:nvSpPr>
            <p:spPr>
              <a:xfrm>
                <a:off x="7329488" y="4238129"/>
                <a:ext cx="976312" cy="633909"/>
              </a:xfrm>
              <a:custGeom>
                <a:avLst/>
                <a:gdLst>
                  <a:gd name="connsiteX0" fmla="*/ 0 w 976312"/>
                  <a:gd name="connsiteY0" fmla="*/ 496 h 633909"/>
                  <a:gd name="connsiteX1" fmla="*/ 485775 w 976312"/>
                  <a:gd name="connsiteY1" fmla="*/ 24309 h 633909"/>
                  <a:gd name="connsiteX2" fmla="*/ 781050 w 976312"/>
                  <a:gd name="connsiteY2" fmla="*/ 157659 h 633909"/>
                  <a:gd name="connsiteX3" fmla="*/ 976312 w 976312"/>
                  <a:gd name="connsiteY3" fmla="*/ 633909 h 63390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976312" h="633909">
                    <a:moveTo>
                      <a:pt x="0" y="496"/>
                    </a:moveTo>
                    <a:cubicBezTo>
                      <a:pt x="177800" y="-695"/>
                      <a:pt x="355600" y="-1885"/>
                      <a:pt x="485775" y="24309"/>
                    </a:cubicBezTo>
                    <a:cubicBezTo>
                      <a:pt x="615950" y="50503"/>
                      <a:pt x="699294" y="56059"/>
                      <a:pt x="781050" y="157659"/>
                    </a:cubicBezTo>
                    <a:cubicBezTo>
                      <a:pt x="862806" y="259259"/>
                      <a:pt x="892968" y="567234"/>
                      <a:pt x="976312" y="633909"/>
                    </a:cubicBezTo>
                  </a:path>
                </a:pathLst>
              </a:custGeom>
              <a:noFill/>
              <a:ln w="1905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39" name="任意多边形: 形状 38">
                <a:extLst>
                  <a:ext uri="{FF2B5EF4-FFF2-40B4-BE49-F238E27FC236}">
                    <a16:creationId xmlns:a16="http://schemas.microsoft.com/office/drawing/2014/main" id="{03A1D5E0-6F00-498E-AC86-3913B5146B2D}"/>
                  </a:ext>
                </a:extLst>
              </p:cNvPr>
              <p:cNvSpPr/>
              <p:nvPr/>
            </p:nvSpPr>
            <p:spPr>
              <a:xfrm>
                <a:off x="7329488" y="4294822"/>
                <a:ext cx="985837" cy="386716"/>
              </a:xfrm>
              <a:custGeom>
                <a:avLst/>
                <a:gdLst>
                  <a:gd name="connsiteX0" fmla="*/ 0 w 985837"/>
                  <a:gd name="connsiteY0" fmla="*/ 15241 h 386716"/>
                  <a:gd name="connsiteX1" fmla="*/ 323850 w 985837"/>
                  <a:gd name="connsiteY1" fmla="*/ 953 h 386716"/>
                  <a:gd name="connsiteX2" fmla="*/ 681037 w 985837"/>
                  <a:gd name="connsiteY2" fmla="*/ 39053 h 386716"/>
                  <a:gd name="connsiteX3" fmla="*/ 919162 w 985837"/>
                  <a:gd name="connsiteY3" fmla="*/ 305753 h 386716"/>
                  <a:gd name="connsiteX4" fmla="*/ 985837 w 985837"/>
                  <a:gd name="connsiteY4" fmla="*/ 386716 h 38671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85837" h="386716">
                    <a:moveTo>
                      <a:pt x="0" y="15241"/>
                    </a:moveTo>
                    <a:cubicBezTo>
                      <a:pt x="105172" y="6112"/>
                      <a:pt x="210344" y="-3016"/>
                      <a:pt x="323850" y="953"/>
                    </a:cubicBezTo>
                    <a:cubicBezTo>
                      <a:pt x="437356" y="4922"/>
                      <a:pt x="581818" y="-11747"/>
                      <a:pt x="681037" y="39053"/>
                    </a:cubicBezTo>
                    <a:cubicBezTo>
                      <a:pt x="780256" y="89853"/>
                      <a:pt x="868362" y="247809"/>
                      <a:pt x="919162" y="305753"/>
                    </a:cubicBezTo>
                    <a:cubicBezTo>
                      <a:pt x="969962" y="363697"/>
                      <a:pt x="977899" y="375206"/>
                      <a:pt x="985837" y="386716"/>
                    </a:cubicBezTo>
                  </a:path>
                </a:pathLst>
              </a:custGeom>
              <a:noFill/>
              <a:ln w="19050">
                <a:solidFill>
                  <a:schemeClr val="accent6">
                    <a:lumMod val="60000"/>
                    <a:lumOff val="40000"/>
                  </a:schemeClr>
                </a:solidFill>
                <a:prstDash val="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40" name="文本框 39">
                <a:extLst>
                  <a:ext uri="{FF2B5EF4-FFF2-40B4-BE49-F238E27FC236}">
                    <a16:creationId xmlns:a16="http://schemas.microsoft.com/office/drawing/2014/main" id="{D5865954-859A-4DA5-8811-DD79EAE14D8B}"/>
                  </a:ext>
                </a:extLst>
              </p:cNvPr>
              <p:cNvSpPr txBox="1"/>
              <p:nvPr/>
            </p:nvSpPr>
            <p:spPr>
              <a:xfrm>
                <a:off x="7958801" y="3999647"/>
                <a:ext cx="532518" cy="1692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5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Helvetica Neue" panose="02000503040000020004" pitchFamily="50" charset="-52"/>
                    <a:ea typeface="等线" panose="02010600030101010101" pitchFamily="2" charset="-122"/>
                    <a:cs typeface="+mn-cs"/>
                  </a:rPr>
                  <a:t>Experiment</a:t>
                </a:r>
                <a:endParaRPr kumimoji="0" lang="zh-CN" altLang="en-US" sz="5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Helvetica Neue" panose="02000503040000020004" pitchFamily="50" charset="-52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41" name="文本框 40">
                <a:extLst>
                  <a:ext uri="{FF2B5EF4-FFF2-40B4-BE49-F238E27FC236}">
                    <a16:creationId xmlns:a16="http://schemas.microsoft.com/office/drawing/2014/main" id="{2B53F9B3-9281-4D2F-97F1-94939BC952BB}"/>
                  </a:ext>
                </a:extLst>
              </p:cNvPr>
              <p:cNvSpPr txBox="1"/>
              <p:nvPr/>
            </p:nvSpPr>
            <p:spPr>
              <a:xfrm>
                <a:off x="7958801" y="4101992"/>
                <a:ext cx="532518" cy="1692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5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Helvetica Neue" panose="02000503040000020004" pitchFamily="50" charset="-52"/>
                    <a:ea typeface="等线" panose="02010600030101010101" pitchFamily="2" charset="-122"/>
                    <a:cs typeface="+mn-cs"/>
                  </a:rPr>
                  <a:t>Simulation</a:t>
                </a:r>
                <a:endParaRPr kumimoji="0" lang="zh-CN" altLang="en-US" sz="5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Helvetica Neue" panose="02000503040000020004" pitchFamily="50" charset="-52"/>
                  <a:ea typeface="等线" panose="02010600030101010101" pitchFamily="2" charset="-122"/>
                  <a:cs typeface="+mn-cs"/>
                </a:endParaRPr>
              </a:p>
            </p:txBody>
          </p:sp>
          <p:grpSp>
            <p:nvGrpSpPr>
              <p:cNvPr id="42" name="组合 41">
                <a:extLst>
                  <a:ext uri="{FF2B5EF4-FFF2-40B4-BE49-F238E27FC236}">
                    <a16:creationId xmlns:a16="http://schemas.microsoft.com/office/drawing/2014/main" id="{FABA767E-65F9-4C3B-BB61-BAF00D265A95}"/>
                  </a:ext>
                </a:extLst>
              </p:cNvPr>
              <p:cNvGrpSpPr/>
              <p:nvPr/>
            </p:nvGrpSpPr>
            <p:grpSpPr>
              <a:xfrm>
                <a:off x="7860884" y="4088653"/>
                <a:ext cx="144000" cy="101960"/>
                <a:chOff x="7860884" y="4088653"/>
                <a:chExt cx="144000" cy="101960"/>
              </a:xfrm>
            </p:grpSpPr>
            <p:cxnSp>
              <p:nvCxnSpPr>
                <p:cNvPr id="49" name="直接连接符 48">
                  <a:extLst>
                    <a:ext uri="{FF2B5EF4-FFF2-40B4-BE49-F238E27FC236}">
                      <a16:creationId xmlns:a16="http://schemas.microsoft.com/office/drawing/2014/main" id="{C3DD7F6A-DC00-427E-98AC-7CE4B9CB87C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860884" y="4088653"/>
                  <a:ext cx="144000" cy="0"/>
                </a:xfrm>
                <a:prstGeom prst="line">
                  <a:avLst/>
                </a:prstGeom>
                <a:ln w="19050">
                  <a:solidFill>
                    <a:srgbClr val="2F528F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50" name="组合 49">
                  <a:extLst>
                    <a:ext uri="{FF2B5EF4-FFF2-40B4-BE49-F238E27FC236}">
                      <a16:creationId xmlns:a16="http://schemas.microsoft.com/office/drawing/2014/main" id="{B465E624-E2ED-4337-8211-557045C50154}"/>
                    </a:ext>
                  </a:extLst>
                </p:cNvPr>
                <p:cNvGrpSpPr/>
                <p:nvPr/>
              </p:nvGrpSpPr>
              <p:grpSpPr>
                <a:xfrm>
                  <a:off x="7860884" y="4190613"/>
                  <a:ext cx="144000" cy="0"/>
                  <a:chOff x="7756515" y="4192993"/>
                  <a:chExt cx="259436" cy="0"/>
                </a:xfrm>
              </p:grpSpPr>
              <p:cxnSp>
                <p:nvCxnSpPr>
                  <p:cNvPr id="51" name="直接连接符 50">
                    <a:extLst>
                      <a:ext uri="{FF2B5EF4-FFF2-40B4-BE49-F238E27FC236}">
                        <a16:creationId xmlns:a16="http://schemas.microsoft.com/office/drawing/2014/main" id="{B38B17F5-215C-4C2D-9325-3F78042D5598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7901651" y="4192993"/>
                    <a:ext cx="114300" cy="0"/>
                  </a:xfrm>
                  <a:prstGeom prst="line">
                    <a:avLst/>
                  </a:prstGeom>
                  <a:ln w="19050">
                    <a:solidFill>
                      <a:srgbClr val="A9D18E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2" name="直接连接符 51">
                    <a:extLst>
                      <a:ext uri="{FF2B5EF4-FFF2-40B4-BE49-F238E27FC236}">
                        <a16:creationId xmlns:a16="http://schemas.microsoft.com/office/drawing/2014/main" id="{B760D8E4-A90D-421C-8355-C348E72F1EE7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7756515" y="4192993"/>
                    <a:ext cx="114300" cy="0"/>
                  </a:xfrm>
                  <a:prstGeom prst="line">
                    <a:avLst/>
                  </a:prstGeom>
                  <a:ln w="19050">
                    <a:solidFill>
                      <a:srgbClr val="A9D18E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  <p:sp>
            <p:nvSpPr>
              <p:cNvPr id="43" name="文本框 42">
                <a:extLst>
                  <a:ext uri="{FF2B5EF4-FFF2-40B4-BE49-F238E27FC236}">
                    <a16:creationId xmlns:a16="http://schemas.microsoft.com/office/drawing/2014/main" id="{49543D45-441D-45CB-A4E4-9B40E79C5592}"/>
                  </a:ext>
                </a:extLst>
              </p:cNvPr>
              <p:cNvSpPr txBox="1"/>
              <p:nvPr/>
            </p:nvSpPr>
            <p:spPr>
              <a:xfrm>
                <a:off x="7615379" y="4942551"/>
                <a:ext cx="498855" cy="20005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Helvetica Neue" panose="02000503040000020004" pitchFamily="50" charset="-52"/>
                    <a:ea typeface="等线" panose="02010600030101010101" pitchFamily="2" charset="-122"/>
                    <a:cs typeface="+mn-cs"/>
                  </a:rPr>
                  <a:t>Time (s)</a:t>
                </a:r>
                <a:endParaRPr kumimoji="0" lang="zh-CN" altLang="en-US" sz="7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Helvetica Neue" panose="02000503040000020004" pitchFamily="50" charset="-52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44" name="文本框 43">
                <a:extLst>
                  <a:ext uri="{FF2B5EF4-FFF2-40B4-BE49-F238E27FC236}">
                    <a16:creationId xmlns:a16="http://schemas.microsoft.com/office/drawing/2014/main" id="{5DCADA9D-D802-4A97-908C-EA6E249CC360}"/>
                  </a:ext>
                </a:extLst>
              </p:cNvPr>
              <p:cNvSpPr txBox="1"/>
              <p:nvPr/>
            </p:nvSpPr>
            <p:spPr>
              <a:xfrm rot="16200000">
                <a:off x="6816836" y="4445237"/>
                <a:ext cx="614271" cy="20005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Helvetica Neue" panose="02000503040000020004" pitchFamily="50" charset="-52"/>
                    <a:ea typeface="等线" panose="02010600030101010101" pitchFamily="2" charset="-122"/>
                    <a:cs typeface="+mn-cs"/>
                  </a:rPr>
                  <a:t>Voltage (V)</a:t>
                </a:r>
                <a:endParaRPr kumimoji="0" lang="zh-CN" altLang="en-US" sz="7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Helvetica Neue" panose="02000503040000020004" pitchFamily="50" charset="-52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45" name="矩形 44">
                <a:extLst>
                  <a:ext uri="{FF2B5EF4-FFF2-40B4-BE49-F238E27FC236}">
                    <a16:creationId xmlns:a16="http://schemas.microsoft.com/office/drawing/2014/main" id="{F9300D02-0DE0-46E3-97D2-D9C06D3BFD60}"/>
                  </a:ext>
                </a:extLst>
              </p:cNvPr>
              <p:cNvSpPr/>
              <p:nvPr/>
            </p:nvSpPr>
            <p:spPr>
              <a:xfrm>
                <a:off x="7329488" y="4168924"/>
                <a:ext cx="178590" cy="186370"/>
              </a:xfrm>
              <a:prstGeom prst="rect">
                <a:avLst/>
              </a:prstGeom>
              <a:noFill/>
              <a:ln>
                <a:solidFill>
                  <a:srgbClr val="C00000"/>
                </a:solidFill>
                <a:prstDash val="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46" name="矩形 45">
                <a:extLst>
                  <a:ext uri="{FF2B5EF4-FFF2-40B4-BE49-F238E27FC236}">
                    <a16:creationId xmlns:a16="http://schemas.microsoft.com/office/drawing/2014/main" id="{817008CB-42D7-4185-AEF1-A106D9ACD9FB}"/>
                  </a:ext>
                </a:extLst>
              </p:cNvPr>
              <p:cNvSpPr/>
              <p:nvPr/>
            </p:nvSpPr>
            <p:spPr>
              <a:xfrm>
                <a:off x="8143876" y="4457885"/>
                <a:ext cx="171450" cy="410269"/>
              </a:xfrm>
              <a:prstGeom prst="rect">
                <a:avLst/>
              </a:prstGeom>
              <a:noFill/>
              <a:ln>
                <a:solidFill>
                  <a:srgbClr val="C00000"/>
                </a:solidFill>
                <a:prstDash val="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47" name="文本框 46">
                <a:extLst>
                  <a:ext uri="{FF2B5EF4-FFF2-40B4-BE49-F238E27FC236}">
                    <a16:creationId xmlns:a16="http://schemas.microsoft.com/office/drawing/2014/main" id="{B5B80D5A-F48A-498F-BCC7-CFFCAAD32378}"/>
                  </a:ext>
                </a:extLst>
              </p:cNvPr>
              <p:cNvSpPr txBox="1"/>
              <p:nvPr/>
            </p:nvSpPr>
            <p:spPr>
              <a:xfrm>
                <a:off x="7248284" y="4321422"/>
                <a:ext cx="596661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Helvetica Neue" panose="02000503040000020004" pitchFamily="50" charset="-52"/>
                    <a:ea typeface="等线" panose="02010600030101010101" pitchFamily="2" charset="-122"/>
                    <a:cs typeface="+mn-cs"/>
                  </a:rPr>
                  <a:t>Low-SOC Region</a:t>
                </a:r>
                <a:endParaRPr kumimoji="0" lang="zh-CN" altLang="en-US" sz="7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Helvetica Neue" panose="02000503040000020004" pitchFamily="50" charset="-52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48" name="文本框 47">
                <a:extLst>
                  <a:ext uri="{FF2B5EF4-FFF2-40B4-BE49-F238E27FC236}">
                    <a16:creationId xmlns:a16="http://schemas.microsoft.com/office/drawing/2014/main" id="{025E520F-1978-4E4D-8A32-3DE5EAAAF2F2}"/>
                  </a:ext>
                </a:extLst>
              </p:cNvPr>
              <p:cNvSpPr txBox="1"/>
              <p:nvPr/>
            </p:nvSpPr>
            <p:spPr>
              <a:xfrm>
                <a:off x="7625995" y="4626110"/>
                <a:ext cx="596661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Helvetica Neue" panose="02000503040000020004" pitchFamily="50" charset="-52"/>
                    <a:ea typeface="等线" panose="02010600030101010101" pitchFamily="2" charset="-122"/>
                    <a:cs typeface="+mn-cs"/>
                  </a:rPr>
                  <a:t>High-SOC Region</a:t>
                </a:r>
                <a:endParaRPr kumimoji="0" lang="zh-CN" altLang="en-US" sz="7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Helvetica Neue" panose="02000503040000020004" pitchFamily="50" charset="-52"/>
                  <a:ea typeface="等线" panose="02010600030101010101" pitchFamily="2" charset="-122"/>
                  <a:cs typeface="+mn-cs"/>
                </a:endParaRPr>
              </a:p>
            </p:txBody>
          </p:sp>
        </p:grpSp>
        <p:sp>
          <p:nvSpPr>
            <p:cNvPr id="26" name="矩形 25">
              <a:extLst>
                <a:ext uri="{FF2B5EF4-FFF2-40B4-BE49-F238E27FC236}">
                  <a16:creationId xmlns:a16="http://schemas.microsoft.com/office/drawing/2014/main" id="{F83A3519-F302-4CAD-9A7C-491DA2199FD9}"/>
                </a:ext>
              </a:extLst>
            </p:cNvPr>
            <p:cNvSpPr/>
            <p:nvPr/>
          </p:nvSpPr>
          <p:spPr>
            <a:xfrm>
              <a:off x="6595218" y="4057478"/>
              <a:ext cx="5014709" cy="1397782"/>
            </a:xfrm>
            <a:prstGeom prst="rect">
              <a:avLst/>
            </a:prstGeom>
            <a:solidFill>
              <a:srgbClr val="E2B1B0">
                <a:alpha val="80000"/>
              </a:srgb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27" name="文本框 26">
              <a:extLst>
                <a:ext uri="{FF2B5EF4-FFF2-40B4-BE49-F238E27FC236}">
                  <a16:creationId xmlns:a16="http://schemas.microsoft.com/office/drawing/2014/main" id="{D581B8D6-BB6E-48DF-A7EE-3914B907E825}"/>
                </a:ext>
              </a:extLst>
            </p:cNvPr>
            <p:cNvSpPr txBox="1"/>
            <p:nvPr/>
          </p:nvSpPr>
          <p:spPr>
            <a:xfrm>
              <a:off x="6751983" y="4040427"/>
              <a:ext cx="4857944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Helvetica Neue" panose="02000503040000020004" pitchFamily="50" charset="-52"/>
                  <a:ea typeface="等线" panose="02010600030101010101" pitchFamily="2" charset="-122"/>
                  <a:cs typeface="+mn-cs"/>
                </a:rPr>
                <a:t>T</a:t>
              </a:r>
              <a:r>
                <a:rPr kumimoji="0" lang="zh-CN" altLang="en-US" sz="1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Helvetica Neue" panose="02000503040000020004" pitchFamily="50" charset="-52"/>
                  <a:ea typeface="等线" panose="02010600030101010101" pitchFamily="2" charset="-122"/>
                  <a:cs typeface="+mn-cs"/>
                </a:rPr>
                <a:t>rust Region based Constrained Bayesian Optimization</a:t>
              </a:r>
            </a:p>
          </p:txBody>
        </p:sp>
        <p:pic>
          <p:nvPicPr>
            <p:cNvPr id="28" name="图片 27" descr="\documentclass{article}&#10;\usepackage{amsmath,amssymb,amsfonts}&#10;\usepackage{xcolor}&#10;\pagestyle{empty}&#10;\begin{document}&#10;    \begin{equation*}&#10;      f(\boldsymbol{\theta}) \sim \mathcal{GP}\bigl(m_f(\boldsymbol{\theta}),\,k_f(\boldsymbol{\theta},\boldsymbol{\theta}')\bigr),&#10;      \quad&#10;      c_j(\boldsymbol{\theta}) \sim \mathcal{GP}\bigl(m_{c_j}(\boldsymbol{\theta}),\,k_{c_j}(\boldsymbol{\theta},\boldsymbol{\theta}')\bigr)&#10;    \end{equation*}&#10;&#10;\end{document}" title="IguanaTex Picture Display">
              <a:extLst>
                <a:ext uri="{FF2B5EF4-FFF2-40B4-BE49-F238E27FC236}">
                  <a16:creationId xmlns:a16="http://schemas.microsoft.com/office/drawing/2014/main" id="{277E67A6-8481-4AFE-93D7-917B40457D29}"/>
                </a:ext>
              </a:extLst>
            </p:cNvPr>
            <p:cNvPicPr>
              <a:picLocks noChangeAspect="1"/>
            </p:cNvPicPr>
            <p:nvPr>
              <p:custDataLst>
                <p:tags r:id="rId4"/>
              </p:custDataLst>
            </p:nvPr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872560" y="4416485"/>
              <a:ext cx="4308895" cy="187507"/>
            </a:xfrm>
            <a:prstGeom prst="rect">
              <a:avLst/>
            </a:prstGeom>
          </p:spPr>
        </p:pic>
        <p:pic>
          <p:nvPicPr>
            <p:cNvPr id="29" name="图片 28" descr="\documentclass{article}&#10;\usepackage{amsmath,amssymb,amsfonts}&#10;\usepackage{xcolor}&#10;\pagestyle{empty}&#10;\begin{document}&#10;    \begin{equation*}&#10;      L_{k+1} = \min\{2 L_k,\,L_{\max}\},\quad n_s\leftarrow 0,\quad L_{k+1} = L_k/2,\quad n_f\leftarrow 0.&#10;    \end{equation*}&#10;&#10;\end{document}" title="IguanaTex Picture Display">
              <a:extLst>
                <a:ext uri="{FF2B5EF4-FFF2-40B4-BE49-F238E27FC236}">
                  <a16:creationId xmlns:a16="http://schemas.microsoft.com/office/drawing/2014/main" id="{9448906E-1950-4990-A9EF-83A45D3A2683}"/>
                </a:ext>
              </a:extLst>
            </p:cNvPr>
            <p:cNvPicPr>
              <a:picLocks noChangeAspect="1"/>
            </p:cNvPicPr>
            <p:nvPr>
              <p:custDataLst>
                <p:tags r:id="rId5"/>
              </p:custDataLst>
            </p:nvPr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039189" y="4950198"/>
              <a:ext cx="3975636" cy="153690"/>
            </a:xfrm>
            <a:prstGeom prst="rect">
              <a:avLst/>
            </a:prstGeom>
          </p:spPr>
        </p:pic>
        <p:sp>
          <p:nvSpPr>
            <p:cNvPr id="30" name="文本框 29">
              <a:extLst>
                <a:ext uri="{FF2B5EF4-FFF2-40B4-BE49-F238E27FC236}">
                  <a16:creationId xmlns:a16="http://schemas.microsoft.com/office/drawing/2014/main" id="{E93A2A52-CE41-45A3-8231-453F9D3BE2A7}"/>
                </a:ext>
              </a:extLst>
            </p:cNvPr>
            <p:cNvSpPr txBox="1"/>
            <p:nvPr/>
          </p:nvSpPr>
          <p:spPr>
            <a:xfrm>
              <a:off x="7902795" y="4596722"/>
              <a:ext cx="2428809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ED7D31">
                      <a:lumMod val="50000"/>
                    </a:srgbClr>
                  </a:solidFill>
                  <a:effectLst/>
                  <a:uLnTx/>
                  <a:uFillTx/>
                  <a:latin typeface="Helvetica Neue" panose="02000503040000020004" pitchFamily="50" charset="-52"/>
                  <a:ea typeface="等线" panose="02010600030101010101" pitchFamily="2" charset="-122"/>
                  <a:cs typeface="+mn-cs"/>
                </a:rPr>
                <a:t>Gaussian Process Regression</a:t>
              </a:r>
            </a:p>
          </p:txBody>
        </p:sp>
        <p:sp>
          <p:nvSpPr>
            <p:cNvPr id="31" name="矩形 30">
              <a:extLst>
                <a:ext uri="{FF2B5EF4-FFF2-40B4-BE49-F238E27FC236}">
                  <a16:creationId xmlns:a16="http://schemas.microsoft.com/office/drawing/2014/main" id="{C50C3581-92EE-4D5D-BE41-12782FF4049C}"/>
                </a:ext>
              </a:extLst>
            </p:cNvPr>
            <p:cNvSpPr/>
            <p:nvPr/>
          </p:nvSpPr>
          <p:spPr>
            <a:xfrm>
              <a:off x="6728690" y="4342158"/>
              <a:ext cx="4631489" cy="297071"/>
            </a:xfrm>
            <a:prstGeom prst="rect">
              <a:avLst/>
            </a:prstGeom>
            <a:noFill/>
            <a:ln w="19050">
              <a:solidFill>
                <a:schemeClr val="accent2">
                  <a:lumMod val="50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32" name="矩形 31">
              <a:extLst>
                <a:ext uri="{FF2B5EF4-FFF2-40B4-BE49-F238E27FC236}">
                  <a16:creationId xmlns:a16="http://schemas.microsoft.com/office/drawing/2014/main" id="{F2805F82-0B83-44C9-8532-942A564D6F4D}"/>
                </a:ext>
              </a:extLst>
            </p:cNvPr>
            <p:cNvSpPr/>
            <p:nvPr/>
          </p:nvSpPr>
          <p:spPr>
            <a:xfrm>
              <a:off x="6728689" y="4868368"/>
              <a:ext cx="4631489" cy="276999"/>
            </a:xfrm>
            <a:prstGeom prst="rect">
              <a:avLst/>
            </a:prstGeom>
            <a:noFill/>
            <a:ln w="19050">
              <a:solidFill>
                <a:schemeClr val="accent2">
                  <a:lumMod val="50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33" name="文本框 32">
              <a:extLst>
                <a:ext uri="{FF2B5EF4-FFF2-40B4-BE49-F238E27FC236}">
                  <a16:creationId xmlns:a16="http://schemas.microsoft.com/office/drawing/2014/main" id="{A2536167-9CAF-46CA-BCD6-3A962C55117C}"/>
                </a:ext>
              </a:extLst>
            </p:cNvPr>
            <p:cNvSpPr txBox="1"/>
            <p:nvPr/>
          </p:nvSpPr>
          <p:spPr>
            <a:xfrm>
              <a:off x="8091588" y="5145367"/>
              <a:ext cx="2428809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ED7D31">
                      <a:lumMod val="50000"/>
                    </a:srgbClr>
                  </a:solidFill>
                  <a:effectLst/>
                  <a:uLnTx/>
                  <a:uFillTx/>
                  <a:latin typeface="Helvetica Neue" panose="02000503040000020004" pitchFamily="50" charset="-52"/>
                  <a:ea typeface="等线" panose="02010600030101010101" pitchFamily="2" charset="-122"/>
                  <a:cs typeface="+mn-cs"/>
                </a:rPr>
                <a:t>Trust Region Management</a:t>
              </a:r>
              <a:endPara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ED7D31">
                    <a:lumMod val="50000"/>
                  </a:srgbClr>
                </a:solidFill>
                <a:effectLst/>
                <a:uLnTx/>
                <a:uFillTx/>
                <a:latin typeface="Helvetica Neue" panose="02000503040000020004" pitchFamily="50" charset="-52"/>
                <a:ea typeface="等线" panose="02010600030101010101" pitchFamily="2" charset="-122"/>
                <a:cs typeface="+mn-cs"/>
              </a:endParaRPr>
            </a:p>
          </p:txBody>
        </p:sp>
        <p:cxnSp>
          <p:nvCxnSpPr>
            <p:cNvPr id="34" name="直接箭头连接符 33">
              <a:extLst>
                <a:ext uri="{FF2B5EF4-FFF2-40B4-BE49-F238E27FC236}">
                  <a16:creationId xmlns:a16="http://schemas.microsoft.com/office/drawing/2014/main" id="{79C434CE-6C2F-4398-9131-095F667E80E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218557" y="4670491"/>
              <a:ext cx="1" cy="144000"/>
            </a:xfrm>
            <a:prstGeom prst="straightConnector1">
              <a:avLst/>
            </a:prstGeom>
            <a:ln w="28575">
              <a:solidFill>
                <a:schemeClr val="accent2">
                  <a:lumMod val="50000"/>
                </a:schemeClr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5" name="直接箭头连接符 34">
              <a:extLst>
                <a:ext uri="{FF2B5EF4-FFF2-40B4-BE49-F238E27FC236}">
                  <a16:creationId xmlns:a16="http://schemas.microsoft.com/office/drawing/2014/main" id="{7F50496C-24A6-4F0A-B048-6DB37B91740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855363" y="4670491"/>
              <a:ext cx="1" cy="144000"/>
            </a:xfrm>
            <a:prstGeom prst="straightConnector1">
              <a:avLst/>
            </a:prstGeom>
            <a:ln w="28575">
              <a:solidFill>
                <a:schemeClr val="accent2">
                  <a:lumMod val="50000"/>
                </a:schemeClr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3" name="直接箭头连接符 12">
              <a:extLst>
                <a:ext uri="{FF2B5EF4-FFF2-40B4-BE49-F238E27FC236}">
                  <a16:creationId xmlns:a16="http://schemas.microsoft.com/office/drawing/2014/main" id="{D3076CD1-EEEB-4E73-BD71-6A5AAE801523}"/>
                </a:ext>
              </a:extLst>
            </p:cNvPr>
            <p:cNvCxnSpPr>
              <a:cxnSpLocks/>
              <a:endCxn id="26" idx="1"/>
            </p:cNvCxnSpPr>
            <p:nvPr/>
          </p:nvCxnSpPr>
          <p:spPr>
            <a:xfrm>
              <a:off x="6303681" y="4756369"/>
              <a:ext cx="291537" cy="0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4" name="直接箭头连接符 13">
              <a:extLst>
                <a:ext uri="{FF2B5EF4-FFF2-40B4-BE49-F238E27FC236}">
                  <a16:creationId xmlns:a16="http://schemas.microsoft.com/office/drawing/2014/main" id="{6322DFA6-DDFA-41DB-A218-397D90B8E9B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117199" y="3909335"/>
              <a:ext cx="1" cy="144000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5" name="矩形 14">
              <a:extLst>
                <a:ext uri="{FF2B5EF4-FFF2-40B4-BE49-F238E27FC236}">
                  <a16:creationId xmlns:a16="http://schemas.microsoft.com/office/drawing/2014/main" id="{21AEB45C-66EF-4ECD-8685-121F25C25DFD}"/>
                </a:ext>
              </a:extLst>
            </p:cNvPr>
            <p:cNvSpPr/>
            <p:nvPr/>
          </p:nvSpPr>
          <p:spPr>
            <a:xfrm>
              <a:off x="6595218" y="5587208"/>
              <a:ext cx="5014709" cy="980536"/>
            </a:xfrm>
            <a:prstGeom prst="rect">
              <a:avLst/>
            </a:prstGeom>
            <a:solidFill>
              <a:srgbClr val="E2B1B0">
                <a:alpha val="80000"/>
              </a:srgb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35BAE7B4-E7F8-48C6-8D4A-09A94297AB2D}"/>
                </a:ext>
              </a:extLst>
            </p:cNvPr>
            <p:cNvSpPr txBox="1"/>
            <p:nvPr/>
          </p:nvSpPr>
          <p:spPr>
            <a:xfrm>
              <a:off x="7590665" y="5561896"/>
              <a:ext cx="2907536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Helvetica Neue" panose="02000503040000020004" pitchFamily="50" charset="-52"/>
                  <a:ea typeface="等线" panose="02010600030101010101" pitchFamily="2" charset="-122"/>
                  <a:cs typeface="+mn-cs"/>
                </a:rPr>
                <a:t>Granular-Adaptive Local Search</a:t>
              </a:r>
              <a:endPara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40000020004" pitchFamily="50" charset="-52"/>
                <a:ea typeface="等线" panose="02010600030101010101" pitchFamily="2" charset="-122"/>
                <a:cs typeface="+mn-cs"/>
              </a:endParaRPr>
            </a:p>
          </p:txBody>
        </p:sp>
        <p:cxnSp>
          <p:nvCxnSpPr>
            <p:cNvPr id="17" name="直接箭头连接符 16">
              <a:extLst>
                <a:ext uri="{FF2B5EF4-FFF2-40B4-BE49-F238E27FC236}">
                  <a16:creationId xmlns:a16="http://schemas.microsoft.com/office/drawing/2014/main" id="{EA270DC2-42C3-420B-B020-35DE766FD64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117199" y="5455482"/>
              <a:ext cx="1" cy="144000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8" name="矩形 17">
              <a:extLst>
                <a:ext uri="{FF2B5EF4-FFF2-40B4-BE49-F238E27FC236}">
                  <a16:creationId xmlns:a16="http://schemas.microsoft.com/office/drawing/2014/main" id="{5D887647-D05C-4D84-A8E5-58B3A4D2CF25}"/>
                </a:ext>
              </a:extLst>
            </p:cNvPr>
            <p:cNvSpPr/>
            <p:nvPr/>
          </p:nvSpPr>
          <p:spPr>
            <a:xfrm>
              <a:off x="6701615" y="5869673"/>
              <a:ext cx="2063168" cy="611296"/>
            </a:xfrm>
            <a:prstGeom prst="rect">
              <a:avLst/>
            </a:prstGeom>
            <a:solidFill>
              <a:srgbClr val="FFDF98">
                <a:alpha val="80000"/>
              </a:srgb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EBB1A71B-B829-4FBC-AD73-68179D4A85A7}"/>
                </a:ext>
              </a:extLst>
            </p:cNvPr>
            <p:cNvSpPr txBox="1"/>
            <p:nvPr/>
          </p:nvSpPr>
          <p:spPr>
            <a:xfrm>
              <a:off x="7030777" y="5844361"/>
              <a:ext cx="1532574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400" b="0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Helvetica Neue" panose="02000503040000020004" pitchFamily="50" charset="-52"/>
                  <a:ea typeface="等线" panose="02010600030101010101" pitchFamily="2" charset="-122"/>
                  <a:cs typeface="+mn-cs"/>
                </a:rPr>
                <a:t>SEARCH </a:t>
              </a: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Helvetica Neue" panose="02000503040000020004" pitchFamily="50" charset="-52"/>
                  <a:ea typeface="等线" panose="02010600030101010101" pitchFamily="2" charset="-122"/>
                  <a:cs typeface="+mn-cs"/>
                </a:rPr>
                <a:t> Stage</a:t>
              </a:r>
            </a:p>
          </p:txBody>
        </p:sp>
        <p:pic>
          <p:nvPicPr>
            <p:cNvPr id="20" name="图片 19" descr="\documentclass{article}&#10;\usepackage{amsmath,amssymb,amsfonts}&#10;\usepackage{xcolor}&#10;\pagestyle{empty}&#10;\begin{document}&#10;    \begin{equation*}&#10;      M_k = \bigl\{\boldsymbol{\theta}_{\ell} + \Delta^m_k\,\mathbf{z} \bigr\}    \end{equation*}&#10;&#10;\end{document}" title="IguanaTex Picture Display">
              <a:extLst>
                <a:ext uri="{FF2B5EF4-FFF2-40B4-BE49-F238E27FC236}">
                  <a16:creationId xmlns:a16="http://schemas.microsoft.com/office/drawing/2014/main" id="{247CC0C6-C226-407C-ACDA-2B94585FFCD7}"/>
                </a:ext>
              </a:extLst>
            </p:cNvPr>
            <p:cNvPicPr>
              <a:picLocks noChangeAspect="1"/>
            </p:cNvPicPr>
            <p:nvPr>
              <p:custDataLst>
                <p:tags r:id="rId6"/>
              </p:custDataLst>
            </p:nvPr>
          </p:nvPicPr>
          <p:blipFill>
            <a:blip r:embed="rId1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853198" y="6148967"/>
              <a:ext cx="1779147" cy="257491"/>
            </a:xfrm>
            <a:prstGeom prst="rect">
              <a:avLst/>
            </a:prstGeom>
          </p:spPr>
        </p:pic>
        <p:sp>
          <p:nvSpPr>
            <p:cNvPr id="21" name="矩形 20">
              <a:extLst>
                <a:ext uri="{FF2B5EF4-FFF2-40B4-BE49-F238E27FC236}">
                  <a16:creationId xmlns:a16="http://schemas.microsoft.com/office/drawing/2014/main" id="{0B299920-7D5E-486C-8A75-BAFCBA85107F}"/>
                </a:ext>
              </a:extLst>
            </p:cNvPr>
            <p:cNvSpPr/>
            <p:nvPr/>
          </p:nvSpPr>
          <p:spPr>
            <a:xfrm>
              <a:off x="9430480" y="5869673"/>
              <a:ext cx="2063168" cy="611296"/>
            </a:xfrm>
            <a:prstGeom prst="rect">
              <a:avLst/>
            </a:prstGeom>
            <a:solidFill>
              <a:srgbClr val="FFDF98">
                <a:alpha val="80000"/>
              </a:srgb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22" name="文本框 21">
              <a:extLst>
                <a:ext uri="{FF2B5EF4-FFF2-40B4-BE49-F238E27FC236}">
                  <a16:creationId xmlns:a16="http://schemas.microsoft.com/office/drawing/2014/main" id="{FD2D9BEF-023A-4994-B554-A14AAE9855CD}"/>
                </a:ext>
              </a:extLst>
            </p:cNvPr>
            <p:cNvSpPr txBox="1"/>
            <p:nvPr/>
          </p:nvSpPr>
          <p:spPr>
            <a:xfrm>
              <a:off x="9793774" y="5844361"/>
              <a:ext cx="1532574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400" b="0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Helvetica Neue" panose="02000503040000020004" pitchFamily="50" charset="-52"/>
                  <a:ea typeface="等线" panose="02010600030101010101" pitchFamily="2" charset="-122"/>
                  <a:cs typeface="+mn-cs"/>
                </a:rPr>
                <a:t>FINALIZE</a:t>
              </a:r>
              <a:r>
                <a:rPr kumimoji="0" lang="zh-CN" altLang="en-US" sz="1400" b="0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Helvetica Neue" panose="02000503040000020004" pitchFamily="50" charset="-52"/>
                  <a:ea typeface="等线" panose="02010600030101010101" pitchFamily="2" charset="-122"/>
                  <a:cs typeface="+mn-cs"/>
                </a:rPr>
                <a:t> </a:t>
              </a: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Helvetica Neue" panose="02000503040000020004" pitchFamily="50" charset="-52"/>
                  <a:ea typeface="等线" panose="02010600030101010101" pitchFamily="2" charset="-122"/>
                  <a:cs typeface="+mn-cs"/>
                </a:rPr>
                <a:t> Stage</a:t>
              </a:r>
            </a:p>
          </p:txBody>
        </p:sp>
        <p:pic>
          <p:nvPicPr>
            <p:cNvPr id="23" name="图片 22" descr="\documentclass{article}&#10;\usepackage{amsmath,amssymb,amsfonts}&#10;\usepackage{xcolor}&#10;\pagestyle{empty}&#10;\begin{document}&#10;    \begin{equation*}&#10;      P_k = \bigl\{\boldsymbol{\theta}_k + \Delta^p_k\,\mathbf{d}\bigr\}&#10;    \end{equation*}&#10;&#10;\end{document}" title="IguanaTex Picture Display">
              <a:extLst>
                <a:ext uri="{FF2B5EF4-FFF2-40B4-BE49-F238E27FC236}">
                  <a16:creationId xmlns:a16="http://schemas.microsoft.com/office/drawing/2014/main" id="{3594629C-2531-42E2-8151-55EB0F4FA475}"/>
                </a:ext>
              </a:extLst>
            </p:cNvPr>
            <p:cNvPicPr>
              <a:picLocks noChangeAspect="1"/>
            </p:cNvPicPr>
            <p:nvPr>
              <p:custDataLst>
                <p:tags r:id="rId7"/>
              </p:custDataLst>
            </p:nvPr>
          </p:nvPicPr>
          <p:blipFill>
            <a:blip r:embed="rId1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616195" y="6148967"/>
              <a:ext cx="1701512" cy="257491"/>
            </a:xfrm>
            <a:prstGeom prst="rect">
              <a:avLst/>
            </a:prstGeom>
          </p:spPr>
        </p:pic>
        <p:cxnSp>
          <p:nvCxnSpPr>
            <p:cNvPr id="24" name="直接箭头连接符 23">
              <a:extLst>
                <a:ext uri="{FF2B5EF4-FFF2-40B4-BE49-F238E27FC236}">
                  <a16:creationId xmlns:a16="http://schemas.microsoft.com/office/drawing/2014/main" id="{FF5516B3-FC6C-4CE2-854B-C8F6BC531D61}"/>
                </a:ext>
              </a:extLst>
            </p:cNvPr>
            <p:cNvCxnSpPr>
              <a:cxnSpLocks/>
              <a:endCxn id="21" idx="1"/>
            </p:cNvCxnSpPr>
            <p:nvPr/>
          </p:nvCxnSpPr>
          <p:spPr>
            <a:xfrm flipV="1">
              <a:off x="8764783" y="6175321"/>
              <a:ext cx="665697" cy="3326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25" name="文本框 24">
              <a:extLst>
                <a:ext uri="{FF2B5EF4-FFF2-40B4-BE49-F238E27FC236}">
                  <a16:creationId xmlns:a16="http://schemas.microsoft.com/office/drawing/2014/main" id="{BD568039-0462-4CF3-8E04-A0900128B250}"/>
                </a:ext>
              </a:extLst>
            </p:cNvPr>
            <p:cNvSpPr txBox="1"/>
            <p:nvPr/>
          </p:nvSpPr>
          <p:spPr>
            <a:xfrm>
              <a:off x="8717227" y="5894985"/>
              <a:ext cx="1307667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400" b="0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Helvetica Neue" panose="02000503040000020004" pitchFamily="50" charset="-52"/>
                  <a:ea typeface="等线" panose="02010600030101010101" pitchFamily="2" charset="-122"/>
                  <a:cs typeface="+mn-cs"/>
                </a:rPr>
                <a:t>IF FAIL</a:t>
              </a:r>
              <a:endParaRPr kumimoji="0" lang="zh-CN" altLang="en-US" sz="1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40000020004" pitchFamily="50" charset="-52"/>
                <a:ea typeface="等线" panose="02010600030101010101" pitchFamily="2" charset="-122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154034253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314.9606"/>
  <p:tag name="ORIGINALWIDTH" val="2605.174"/>
  <p:tag name="OUTPUTTYPE" val="PNG"/>
  <p:tag name="IGUANATEXVERSION" val="162"/>
  <p:tag name="LATEXADDIN" val="\documentclass{article}&#10;\usepackage{amsmath,amssymb,amsfonts}&#10;\usepackage{xcolor}&#10;\pagestyle{empty}&#10;\begin{document}&#10;\begin{equation*}&#10;S_i = \frac{\mathrm{Var}_{\theta_i}\left[\mathbb{E}(Y \mid \theta_i)\right]}&#10;{ \mathrm{Var}(Y)}, S_{T_i} =&#10;\frac{\displaystyle \mathbb{E}_{\theta_{\sim i}}\bigl[\mathrm{Var}(Y \mid \theta_{\sim i})\bigr]}&#10;{\displaystyle \mathrm{Var}(Y)}&#10;\end{equation*}&#10;&#10;\end{document}"/>
  <p:tag name="IGUANATEXSIZE" val="20"/>
  <p:tag name="IGUANATEXCURSOR" val="371"/>
  <p:tag name="TRANSPARENCY" val="True"/>
  <p:tag name="COLORHEX" val="000000"/>
  <p:tag name="FILENAME" val=""/>
  <p:tag name="LATEXENGINEID" val="0"/>
  <p:tag name="TEMPFOLDER" val="D:\Igunatex\temp\"/>
  <p:tag name="LATEXFORMHEIGHT" val="320"/>
  <p:tag name="LATEXFORMWIDTH" val="385"/>
  <p:tag name="LATEXFORMWRAP" val="True"/>
  <p:tag name="BITMAPVECTOR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16.2354"/>
  <p:tag name="ORIGINALWIDTH" val="2156.73"/>
  <p:tag name="OUTPUTTYPE" val="PNG"/>
  <p:tag name="IGUANATEXVERSION" val="162"/>
  <p:tag name="LATEXADDIN" val="\documentclass{article}&#10;\usepackage{amsmath,amssymb,amsfonts}&#10;\usepackage{xcolor}&#10;\pagestyle{empty}&#10;\begin{document}&#10;\begin{equation*}&#10;Y_{\text{multi}}  = w_1 Y_{C_1} + w_2 Y_{C_2} + \ldots + w_m Y_{C_m}&#10;\end{equation*}&#10;&#10;\end{document}"/>
  <p:tag name="IGUANATEXSIZE" val="20"/>
  <p:tag name="IGUANATEXCURSOR" val="203"/>
  <p:tag name="TRANSPARENCY" val="True"/>
  <p:tag name="COLORHEX" val="000000"/>
  <p:tag name="FILENAME" val=""/>
  <p:tag name="LATEXENGINEID" val="0"/>
  <p:tag name="TEMPFOLDER" val="D:\Igunatex\temp\"/>
  <p:tag name="LATEXFORMHEIGHT" val="320"/>
  <p:tag name="LATEXFORMWIDTH" val="385"/>
  <p:tag name="LATEXFORMWRAP" val="True"/>
  <p:tag name="BITMAPVECTOR" val="0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436.4454"/>
  <p:tag name="ORIGINALWIDTH" val="2684.665"/>
  <p:tag name="OUTPUTTYPE" val="PNG"/>
  <p:tag name="IGUANATEXVERSION" val="162"/>
  <p:tag name="LATEXADDIN" val="\documentclass{article}&#10;\usepackage{amsmath,amssymb,amsfonts}&#10;\usepackage{xcolor}&#10;\pagestyle{empty}&#10;\begin{document}&#10;\begin{equation*}&#10;\begin{aligned}&#10;\boldsymbol{\theta}^* =&amp; \arg\min_{\boldsymbol{\theta} \in \Theta} \max_{i \in \{1,2,\ldots,m\}} J(\boldsymbol{\theta}, \mathcal{D}_{C_i}) \\&#10;\text{subject to\quad} &amp;J(\boldsymbol{\theta}, \mathcal{D}_{C_i}^{\text{high}}) \leq \epsilon_{\text{high}},\;&#10;J(\boldsymbol{\theta}, \mathcal{D}_{C_i}^{\text{low}}) \leq \epsilon_{\text{low}}&#10;\end{aligned}&#10;\end{equation*}&#10;&#10;\end{document}"/>
  <p:tag name="IGUANATEXSIZE" val="20"/>
  <p:tag name="IGUANATEXCURSOR" val="514"/>
  <p:tag name="TRANSPARENCY" val="True"/>
  <p:tag name="COLORHEX" val="000000"/>
  <p:tag name="FILENAME" val=""/>
  <p:tag name="LATEXENGINEID" val="0"/>
  <p:tag name="TEMPFOLDER" val="D:\Igunatex\temp\"/>
  <p:tag name="LATEXFORMHEIGHT" val="320"/>
  <p:tag name="LATEXFORMWIDTH" val="385"/>
  <p:tag name="LATEXFORMWRAP" val="True"/>
  <p:tag name="BITMAPVECTOR" val="0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49.2313"/>
  <p:tag name="ORIGINALWIDTH" val="3429.321"/>
  <p:tag name="OUTPUTTYPE" val="PNG"/>
  <p:tag name="IGUANATEXVERSION" val="162"/>
  <p:tag name="LATEXADDIN" val="\documentclass{article}&#10;\usepackage{amsmath,amssymb,amsfonts}&#10;\usepackage{xcolor}&#10;\pagestyle{empty}&#10;\begin{document}&#10;    \begin{equation*}&#10;      f(\boldsymbol{\theta}) \sim \mathcal{GP}\bigl(m_f(\boldsymbol{\theta}),\,k_f(\boldsymbol{\theta},\boldsymbol{\theta}')\bigr),&#10;      \quad&#10;      c_j(\boldsymbol{\theta}) \sim \mathcal{GP}\bigl(m_{c_j}(\boldsymbol{\theta}),\,k_{c_j}(\boldsymbol{\theta},\boldsymbol{\theta}')\bigr)&#10;    \end{equation*}&#10;&#10;\end{document}"/>
  <p:tag name="IGUANATEXSIZE" val="20"/>
  <p:tag name="IGUANATEXCURSOR" val="423"/>
  <p:tag name="TRANSPARENCY" val="True"/>
  <p:tag name="COLORHEX" val="000000"/>
  <p:tag name="FILENAME" val=""/>
  <p:tag name="LATEXENGINEID" val="0"/>
  <p:tag name="TEMPFOLDER" val="D:\Igunatex\temp\"/>
  <p:tag name="LATEXFORMHEIGHT" val="320"/>
  <p:tag name="LATEXFORMWIDTH" val="385"/>
  <p:tag name="LATEXFORMWRAP" val="True"/>
  <p:tag name="BITMAPVECTOR" val="0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30.4837"/>
  <p:tag name="ORIGINALWIDTH" val="3375.328"/>
  <p:tag name="OUTPUTTYPE" val="PNG"/>
  <p:tag name="IGUANATEXVERSION" val="162"/>
  <p:tag name="LATEXADDIN" val="\documentclass{article}&#10;\usepackage{amsmath,amssymb,amsfonts}&#10;\usepackage{xcolor}&#10;\pagestyle{empty}&#10;\begin{document}&#10;    \begin{equation*}&#10;      L_{k+1} = \min\{2 L_k,\,L_{\max}\},\quad n_s\leftarrow 0,\quad L_{k+1} = L_k/2,\quad n_f\leftarrow 0.&#10;    \end{equation*}&#10;&#10;\end{document}"/>
  <p:tag name="IGUANATEXSIZE" val="20"/>
  <p:tag name="IGUANATEXCURSOR" val="207"/>
  <p:tag name="TRANSPARENCY" val="True"/>
  <p:tag name="COLORHEX" val="000000"/>
  <p:tag name="FILENAME" val=""/>
  <p:tag name="LATEXENGINEID" val="0"/>
  <p:tag name="TEMPFOLDER" val="D:\Igunatex\temp\"/>
  <p:tag name="LATEXFORMHEIGHT" val="320"/>
  <p:tag name="LATEXFORMWIDTH" val="385"/>
  <p:tag name="LATEXFORMWRAP" val="True"/>
  <p:tag name="BITMAPVECTOR" val="0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49.2313"/>
  <p:tag name="ORIGINALWIDTH" val="1031.121"/>
  <p:tag name="OUTPUTTYPE" val="PNG"/>
  <p:tag name="IGUANATEXVERSION" val="162"/>
  <p:tag name="LATEXADDIN" val="\documentclass{article}&#10;\usepackage{amsmath,amssymb,amsfonts}&#10;\usepackage{xcolor}&#10;\pagestyle{empty}&#10;\begin{document}&#10;    \begin{equation*}&#10;      M_k = \bigl\{\boldsymbol{\theta}_{\ell} + \Delta^m_k\,\mathbf{z} \bigr\}    \end{equation*}&#10;&#10;\end{document}"/>
  <p:tag name="IGUANATEXSIZE" val="20"/>
  <p:tag name="IGUANATEXCURSOR" val="209"/>
  <p:tag name="TRANSPARENCY" val="True"/>
  <p:tag name="COLORHEX" val="000000"/>
  <p:tag name="FILENAME" val=""/>
  <p:tag name="LATEXENGINEID" val="0"/>
  <p:tag name="TEMPFOLDER" val="D:\Igunatex\temp\"/>
  <p:tag name="LATEXFORMHEIGHT" val="320"/>
  <p:tag name="LATEXFORMWIDTH" val="385"/>
  <p:tag name="LATEXFORMWRAP" val="True"/>
  <p:tag name="BITMAPVECTOR" val="0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49.2313"/>
  <p:tag name="ORIGINALWIDTH" val="986.1267"/>
  <p:tag name="OUTPUTTYPE" val="PNG"/>
  <p:tag name="IGUANATEXVERSION" val="162"/>
  <p:tag name="LATEXADDIN" val="\documentclass{article}&#10;\usepackage{amsmath,amssymb,amsfonts}&#10;\usepackage{xcolor}&#10;\pagestyle{empty}&#10;\begin{document}&#10;    \begin{equation*}&#10;      P_k = \bigl\{\boldsymbol{\theta}_k + \Delta^p_k\,\mathbf{d}\bigr\}&#10;    \end{equation*}&#10;&#10;\end{document}"/>
  <p:tag name="IGUANATEXSIZE" val="20"/>
  <p:tag name="IGUANATEXCURSOR" val="211"/>
  <p:tag name="TRANSPARENCY" val="True"/>
  <p:tag name="COLORHEX" val="000000"/>
  <p:tag name="FILENAME" val=""/>
  <p:tag name="LATEXENGINEID" val="0"/>
  <p:tag name="TEMPFOLDER" val="D:\Igunatex\temp\"/>
  <p:tag name="LATEXFORMHEIGHT" val="320"/>
  <p:tag name="LATEXFORMWIDTH" val="385"/>
  <p:tag name="LATEXFORMWRAP" val="True"/>
  <p:tag name="BITMAPVECTOR" val="0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61</Words>
  <Application>Microsoft Office PowerPoint</Application>
  <PresentationFormat>宽屏</PresentationFormat>
  <Paragraphs>22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6" baseType="lpstr">
      <vt:lpstr>等线</vt:lpstr>
      <vt:lpstr>等线 Light</vt:lpstr>
      <vt:lpstr>Arial</vt:lpstr>
      <vt:lpstr>Helvetica Neue</vt:lpstr>
      <vt:lpstr>Office 主题​​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葛 旭</dc:creator>
  <cp:lastModifiedBy>葛 旭</cp:lastModifiedBy>
  <cp:revision>1</cp:revision>
  <dcterms:created xsi:type="dcterms:W3CDTF">2025-11-07T01:51:07Z</dcterms:created>
  <dcterms:modified xsi:type="dcterms:W3CDTF">2025-11-07T01:51:31Z</dcterms:modified>
</cp:coreProperties>
</file>